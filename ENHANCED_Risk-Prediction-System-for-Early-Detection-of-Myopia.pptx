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76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2817" y="1413573"/>
            <a:ext cx="5965825" cy="548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684" y="484123"/>
            <a:ext cx="9338945" cy="122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38975" y="2871533"/>
            <a:ext cx="5941059" cy="2228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600950"/>
            <a:ext cx="2266950" cy="6286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46785" y="3234435"/>
            <a:ext cx="12280900" cy="145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4410" marR="5080" indent="-982344">
              <a:lnSpc>
                <a:spcPct val="106600"/>
              </a:lnSpc>
              <a:spcBef>
                <a:spcPts val="95"/>
              </a:spcBef>
            </a:pPr>
            <a:r>
              <a:rPr sz="4400" dirty="0">
                <a:solidFill>
                  <a:srgbClr val="1B1B27"/>
                </a:solidFill>
              </a:rPr>
              <a:t>AI-Based</a:t>
            </a:r>
            <a:r>
              <a:rPr sz="4400" spc="-4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Multivariate</a:t>
            </a:r>
            <a:r>
              <a:rPr sz="4400" spc="10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Risk</a:t>
            </a:r>
            <a:r>
              <a:rPr sz="4400" spc="-2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Prediction</a:t>
            </a:r>
            <a:r>
              <a:rPr sz="4400" spc="-4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System</a:t>
            </a:r>
            <a:r>
              <a:rPr sz="4400" spc="-50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for</a:t>
            </a:r>
            <a:r>
              <a:rPr sz="4400" spc="-20" dirty="0">
                <a:solidFill>
                  <a:srgbClr val="1B1B27"/>
                </a:solidFill>
              </a:rPr>
              <a:t> </a:t>
            </a:r>
            <a:r>
              <a:rPr sz="4400" spc="-10" dirty="0">
                <a:solidFill>
                  <a:srgbClr val="1B1B27"/>
                </a:solidFill>
              </a:rPr>
              <a:t>Early </a:t>
            </a:r>
            <a:r>
              <a:rPr sz="4400" dirty="0">
                <a:solidFill>
                  <a:srgbClr val="1B1B27"/>
                </a:solidFill>
              </a:rPr>
              <a:t>Detection</a:t>
            </a:r>
            <a:r>
              <a:rPr sz="4400" spc="1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of</a:t>
            </a:r>
            <a:r>
              <a:rPr sz="4400" spc="3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Myopia</a:t>
            </a:r>
            <a:r>
              <a:rPr sz="4400" spc="20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in</a:t>
            </a:r>
            <a:r>
              <a:rPr sz="4400" spc="3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School-Aged</a:t>
            </a:r>
            <a:r>
              <a:rPr sz="4400" spc="35" dirty="0">
                <a:solidFill>
                  <a:srgbClr val="1B1B27"/>
                </a:solidFill>
              </a:rPr>
              <a:t> </a:t>
            </a:r>
            <a:r>
              <a:rPr sz="4400" spc="-10" dirty="0">
                <a:solidFill>
                  <a:srgbClr val="1B1B27"/>
                </a:solidFill>
              </a:rPr>
              <a:t>Children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1012805" y="6260655"/>
            <a:ext cx="2675890" cy="113157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700" b="1" dirty="0">
                <a:solidFill>
                  <a:srgbClr val="3B3939"/>
                </a:solidFill>
                <a:latin typeface="Calibri"/>
                <a:cs typeface="Calibri"/>
              </a:rPr>
              <a:t>Team</a:t>
            </a:r>
            <a:r>
              <a:rPr sz="1700" b="1" spc="-5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3B3939"/>
                </a:solidFill>
                <a:latin typeface="Calibri"/>
                <a:cs typeface="Calibri"/>
              </a:rPr>
              <a:t>Members: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Nency</a:t>
            </a:r>
            <a:r>
              <a:rPr sz="1700" spc="9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Pansuriya(23AIML043)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Unnati</a:t>
            </a:r>
            <a:r>
              <a:rPr sz="1700" spc="12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Tank(23AIML069)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4175" y="904875"/>
            <a:ext cx="704850" cy="676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0653" y="1910624"/>
            <a:ext cx="9596663" cy="2917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8675" y="7600950"/>
            <a:ext cx="2266950" cy="6286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1684" y="1583308"/>
            <a:ext cx="954214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>
                <a:solidFill>
                  <a:srgbClr val="1B1B27"/>
                </a:solidFill>
              </a:rPr>
              <a:t>Myopia:</a:t>
            </a:r>
            <a:r>
              <a:rPr sz="4400" spc="-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A Growing</a:t>
            </a:r>
            <a:r>
              <a:rPr sz="4400" spc="40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Pediatric Health</a:t>
            </a:r>
            <a:r>
              <a:rPr sz="4400" spc="-10" dirty="0">
                <a:solidFill>
                  <a:srgbClr val="1B1B27"/>
                </a:solidFill>
              </a:rPr>
              <a:t> Crisis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781684" y="2921093"/>
            <a:ext cx="5730875" cy="3895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715" algn="just">
              <a:lnSpc>
                <a:spcPct val="142600"/>
              </a:lnSpc>
              <a:spcBef>
                <a:spcPts val="110"/>
              </a:spcBef>
            </a:pP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Myopia</a:t>
            </a:r>
            <a:r>
              <a:rPr sz="1700" spc="24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prevalence</a:t>
            </a:r>
            <a:r>
              <a:rPr sz="1700" spc="24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in</a:t>
            </a:r>
            <a:r>
              <a:rPr sz="1700" spc="254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school-aged</a:t>
            </a:r>
            <a:r>
              <a:rPr sz="1700" spc="22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children</a:t>
            </a:r>
            <a:r>
              <a:rPr sz="1700" spc="23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has</a:t>
            </a:r>
            <a:r>
              <a:rPr sz="1700" spc="22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increased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dramatically,</a:t>
            </a:r>
            <a:r>
              <a:rPr sz="1700" spc="12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with</a:t>
            </a:r>
            <a:r>
              <a:rPr sz="1700" spc="114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projections</a:t>
            </a:r>
            <a:r>
              <a:rPr sz="1700" spc="13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indicating</a:t>
            </a:r>
            <a:r>
              <a:rPr sz="1700" spc="14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50%</a:t>
            </a:r>
            <a:r>
              <a:rPr sz="1700" spc="114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of</a:t>
            </a:r>
            <a:r>
              <a:rPr sz="1700" spc="13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the</a:t>
            </a:r>
            <a:r>
              <a:rPr sz="1700" spc="12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global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population</a:t>
            </a:r>
            <a:r>
              <a:rPr sz="1700" spc="1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will</a:t>
            </a:r>
            <a:r>
              <a:rPr sz="1700" spc="1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be</a:t>
            </a:r>
            <a:r>
              <a:rPr sz="1700" spc="1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myopic</a:t>
            </a:r>
            <a:r>
              <a:rPr sz="1700" spc="1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by</a:t>
            </a:r>
            <a:r>
              <a:rPr sz="1700" spc="14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2050.</a:t>
            </a:r>
            <a:r>
              <a:rPr sz="1700" spc="11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Current</a:t>
            </a:r>
            <a:r>
              <a:rPr sz="1700" spc="8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detection</a:t>
            </a:r>
            <a:r>
              <a:rPr sz="1700" spc="18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methods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rely</a:t>
            </a:r>
            <a:r>
              <a:rPr sz="1700" spc="16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on</a:t>
            </a:r>
            <a:r>
              <a:rPr sz="1700" spc="22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symptomatic</a:t>
            </a:r>
            <a:r>
              <a:rPr sz="1700" spc="18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presentation,</a:t>
            </a:r>
            <a:r>
              <a:rPr sz="1700" spc="204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missing</a:t>
            </a:r>
            <a:r>
              <a:rPr sz="1700" spc="19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critical</a:t>
            </a:r>
            <a:r>
              <a:rPr sz="1700" spc="21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intervention windows.</a:t>
            </a:r>
            <a:endParaRPr sz="1700" dirty="0">
              <a:latin typeface="Calibri"/>
              <a:cs typeface="Calibri"/>
            </a:endParaRPr>
          </a:p>
          <a:p>
            <a:pPr marL="12700" marR="5080" algn="just">
              <a:lnSpc>
                <a:spcPct val="142600"/>
              </a:lnSpc>
              <a:spcBef>
                <a:spcPts val="1365"/>
              </a:spcBef>
            </a:pPr>
            <a:r>
              <a:rPr sz="1700" b="1" dirty="0">
                <a:solidFill>
                  <a:srgbClr val="3B3939"/>
                </a:solidFill>
                <a:latin typeface="Calibri"/>
                <a:cs typeface="Calibri"/>
              </a:rPr>
              <a:t>Our</a:t>
            </a:r>
            <a:r>
              <a:rPr sz="1700" b="1" spc="35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b="1" dirty="0">
                <a:solidFill>
                  <a:srgbClr val="3B3939"/>
                </a:solidFill>
                <a:latin typeface="Calibri"/>
                <a:cs typeface="Calibri"/>
              </a:rPr>
              <a:t>AI</a:t>
            </a:r>
            <a:r>
              <a:rPr sz="1700" b="1" spc="34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b="1" dirty="0">
                <a:solidFill>
                  <a:srgbClr val="3B3939"/>
                </a:solidFill>
                <a:latin typeface="Calibri"/>
                <a:cs typeface="Calibri"/>
              </a:rPr>
              <a:t>Solution:</a:t>
            </a:r>
            <a:r>
              <a:rPr sz="1700" b="1" spc="34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A</a:t>
            </a:r>
            <a:r>
              <a:rPr sz="1700" spc="34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predictive</a:t>
            </a:r>
            <a:r>
              <a:rPr sz="1700" spc="33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risk</a:t>
            </a:r>
            <a:r>
              <a:rPr sz="1700" spc="33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stratification</a:t>
            </a:r>
            <a:r>
              <a:rPr sz="1700" spc="35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system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leveraging</a:t>
            </a:r>
            <a:r>
              <a:rPr sz="1700" spc="7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multivariate</a:t>
            </a:r>
            <a:r>
              <a:rPr sz="1700" spc="49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clinical,</a:t>
            </a:r>
            <a:r>
              <a:rPr sz="1700" spc="49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behavioral,</a:t>
            </a:r>
            <a:r>
              <a:rPr sz="1700" spc="7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sz="1700" spc="4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demographic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features</a:t>
            </a:r>
            <a:r>
              <a:rPr sz="1700" spc="35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to</a:t>
            </a:r>
            <a:r>
              <a:rPr sz="1700" spc="32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identify</a:t>
            </a:r>
            <a:r>
              <a:rPr sz="1700" spc="34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high-risk</a:t>
            </a:r>
            <a:r>
              <a:rPr sz="1700" spc="33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children</a:t>
            </a:r>
            <a:r>
              <a:rPr sz="1700" spc="34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before</a:t>
            </a:r>
            <a:r>
              <a:rPr sz="1700" spc="32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symptom</a:t>
            </a:r>
            <a:r>
              <a:rPr sz="1700" spc="38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onset.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This</a:t>
            </a:r>
            <a:r>
              <a:rPr sz="1700" spc="290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enables</a:t>
            </a:r>
            <a:r>
              <a:rPr sz="1700" spc="275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proactive</a:t>
            </a:r>
            <a:r>
              <a:rPr sz="1700" spc="295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intervention</a:t>
            </a:r>
            <a:r>
              <a:rPr sz="1700" spc="285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sz="1700" spc="280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personalized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monitoring</a:t>
            </a:r>
            <a:r>
              <a:rPr sz="1700" spc="204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protocols.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8025" y="3181350"/>
            <a:ext cx="678180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477125"/>
            <a:ext cx="2266950" cy="6286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1684" y="1326514"/>
            <a:ext cx="449707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B1B27"/>
                </a:solidFill>
              </a:rPr>
              <a:t>Project</a:t>
            </a:r>
            <a:r>
              <a:rPr spc="-130" dirty="0">
                <a:solidFill>
                  <a:srgbClr val="1B1B27"/>
                </a:solidFill>
              </a:rPr>
              <a:t> </a:t>
            </a:r>
            <a:r>
              <a:rPr spc="-10" dirty="0">
                <a:solidFill>
                  <a:srgbClr val="1B1B27"/>
                </a:solidFill>
              </a:rPr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0892" y="2348928"/>
            <a:ext cx="5513070" cy="442150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1575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presence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myopia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(Yes/No)</a:t>
            </a:r>
            <a:endParaRPr sz="24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Char char="•"/>
              <a:tabLst>
                <a:tab pos="231775" algn="l"/>
              </a:tabLst>
            </a:pPr>
            <a:r>
              <a:rPr sz="2400" spc="-10" dirty="0">
                <a:latin typeface="Calibri"/>
                <a:cs typeface="Calibri"/>
              </a:rPr>
              <a:t>Analyze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risk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factors:</a:t>
            </a:r>
            <a:endParaRPr sz="24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00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Screen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Outdoor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activity</a:t>
            </a:r>
            <a:endParaRPr sz="24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Family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history</a:t>
            </a:r>
            <a:endParaRPr sz="24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00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Classify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severity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level</a:t>
            </a:r>
            <a:endParaRPr sz="24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Build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interpretable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10" dirty="0">
                <a:latin typeface="Calibri"/>
                <a:cs typeface="Calibri"/>
              </a:rPr>
              <a:t> model</a:t>
            </a:r>
            <a:endParaRPr sz="24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00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insights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prevention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600950"/>
            <a:ext cx="2266950" cy="6286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1684" y="484123"/>
            <a:ext cx="9338945" cy="1159932"/>
          </a:xfrm>
          <a:prstGeom prst="rect">
            <a:avLst/>
          </a:prstGeom>
        </p:spPr>
        <p:txBody>
          <a:bodyPr vert="horz" wrap="square" lIns="0" tIns="417194" rIns="0" bIns="0" rtlCol="0">
            <a:spAutoFit/>
          </a:bodyPr>
          <a:lstStyle/>
          <a:p>
            <a:pPr marL="23939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SYSTEM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D3D23-6AF9-1C29-2A5C-DE230E0F5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3" b="356"/>
          <a:stretch>
            <a:fillRect/>
          </a:stretch>
        </p:blipFill>
        <p:spPr>
          <a:xfrm>
            <a:off x="4587191" y="1922396"/>
            <a:ext cx="5544324" cy="59928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753348"/>
            <a:ext cx="2266950" cy="4095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7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MODELS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USED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2539" y="1799907"/>
            <a:ext cx="5937885" cy="60683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ts val="2865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XGBoost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Classifier</a:t>
            </a:r>
            <a:endParaRPr sz="24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Target:</a:t>
            </a:r>
            <a:r>
              <a:rPr lang="en-US" sz="2400" dirty="0">
                <a:latin typeface="+mn-lt"/>
              </a:rPr>
              <a:t> Detect presence of refractive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Accuracy:</a:t>
            </a:r>
            <a:r>
              <a:rPr lang="en-US" sz="2400" dirty="0">
                <a:latin typeface="+mn-lt"/>
              </a:rPr>
              <a:t> 94.51% (AUC)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Method:</a:t>
            </a:r>
            <a:r>
              <a:rPr lang="en-US" sz="2400" dirty="0">
                <a:latin typeface="+mn-lt"/>
              </a:rPr>
              <a:t> Gradient boosting with decision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Role:</a:t>
            </a:r>
            <a:r>
              <a:rPr lang="en-US" sz="2400" dirty="0">
                <a:latin typeface="+mn-lt"/>
              </a:rPr>
              <a:t> Primary screening model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Font typeface="Arial MT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sz="2400" b="1" dirty="0">
                <a:latin typeface="Calibri"/>
                <a:cs typeface="Calibri"/>
              </a:rPr>
              <a:t>2: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Gradient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Boosting</a:t>
            </a:r>
            <a:r>
              <a:rPr sz="2400" b="1" spc="-10" dirty="0">
                <a:latin typeface="Calibri"/>
                <a:cs typeface="Calibri"/>
              </a:rPr>
              <a:t> Classifier</a:t>
            </a:r>
            <a:endParaRPr sz="24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Target:</a:t>
            </a:r>
            <a:r>
              <a:rPr lang="en-US" sz="2400" dirty="0">
                <a:latin typeface="+mn-lt"/>
              </a:rPr>
              <a:t> Classify progression risk (High/Low-Moderate)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Accuracy:</a:t>
            </a:r>
            <a:r>
              <a:rPr lang="en-US" sz="2400" dirty="0">
                <a:latin typeface="+mn-lt"/>
              </a:rPr>
              <a:t> 81.2%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Method:</a:t>
            </a:r>
            <a:r>
              <a:rPr lang="en-US" sz="2400" dirty="0">
                <a:latin typeface="+mn-lt"/>
              </a:rPr>
              <a:t> Disease progression pattern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Role:</a:t>
            </a:r>
            <a:r>
              <a:rPr lang="en-US" sz="2400" dirty="0">
                <a:latin typeface="+mn-lt"/>
              </a:rPr>
              <a:t> Risk stratification &amp; intervention planning</a:t>
            </a:r>
          </a:p>
          <a:p>
            <a:pPr marL="322580" lvl="1" indent="-30988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32258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48600" y="1799907"/>
            <a:ext cx="5937885" cy="518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 indent="-303530">
              <a:lnSpc>
                <a:spcPts val="2865"/>
              </a:lnSpc>
              <a:spcBef>
                <a:spcPts val="100"/>
              </a:spcBef>
              <a:buAutoNum type="arabicPeriod" startAt="3"/>
              <a:tabLst>
                <a:tab pos="316230" algn="l"/>
              </a:tabLst>
            </a:pP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Forest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Regressor</a:t>
            </a:r>
            <a:endParaRPr sz="24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Target:</a:t>
            </a:r>
            <a:r>
              <a:rPr lang="en-US" sz="2400" dirty="0">
                <a:latin typeface="+mn-lt"/>
              </a:rPr>
              <a:t> Predict diopter value (severity)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Accuracy:</a:t>
            </a:r>
            <a:r>
              <a:rPr lang="en-US" sz="2400" dirty="0">
                <a:latin typeface="+mn-lt"/>
              </a:rPr>
              <a:t> R² = 0.827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Method:</a:t>
            </a:r>
            <a:r>
              <a:rPr lang="en-US" sz="2400" dirty="0">
                <a:latin typeface="+mn-lt"/>
              </a:rPr>
              <a:t> Multiple decision trees for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Role:</a:t>
            </a:r>
            <a:r>
              <a:rPr lang="en-US" sz="2400" dirty="0">
                <a:latin typeface="+mn-lt"/>
              </a:rPr>
              <a:t> Numerical severity estimation</a:t>
            </a:r>
          </a:p>
          <a:p>
            <a:endParaRPr lang="en-US" sz="2400" dirty="0">
              <a:latin typeface="+mn-lt"/>
            </a:endParaRPr>
          </a:p>
          <a:p>
            <a:r>
              <a:rPr lang="en-IN" sz="2400" b="1" dirty="0">
                <a:latin typeface="+mn-lt"/>
              </a:rPr>
              <a:t>4. MobileNetV2 CNN (Image Model)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Target:</a:t>
            </a:r>
            <a:r>
              <a:rPr lang="en-US" sz="2400" dirty="0">
                <a:latin typeface="+mn-lt"/>
              </a:rPr>
              <a:t> Classify myopia from fundus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Accuracy:</a:t>
            </a:r>
            <a:r>
              <a:rPr lang="en-US" sz="2400" dirty="0">
                <a:latin typeface="+mn-lt"/>
              </a:rPr>
              <a:t> 99.71%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AUC:</a:t>
            </a:r>
            <a:r>
              <a:rPr lang="en-US" sz="2400" dirty="0">
                <a:latin typeface="+mn-lt"/>
              </a:rPr>
              <a:t> 0.9998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Method:</a:t>
            </a:r>
            <a:r>
              <a:rPr lang="en-US" sz="2400" dirty="0">
                <a:latin typeface="+mn-lt"/>
              </a:rPr>
              <a:t> Transfer learning with ImageNet 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Role:</a:t>
            </a:r>
            <a:r>
              <a:rPr lang="en-US" sz="2400" dirty="0">
                <a:latin typeface="+mn-lt"/>
              </a:rPr>
              <a:t> Image-based diagnosis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477125"/>
            <a:ext cx="2266950" cy="6286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80147" y="638174"/>
            <a:ext cx="563118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>
                <a:solidFill>
                  <a:srgbClr val="000000"/>
                </a:solidFill>
              </a:rPr>
              <a:t>DATASET</a:t>
            </a:r>
            <a:r>
              <a:rPr spc="-1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DESCRIPTION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5552" y="1647507"/>
            <a:ext cx="13156248" cy="398698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296545" algn="l"/>
              </a:tabLst>
            </a:pPr>
            <a:r>
              <a:rPr lang="en-IN" sz="2400" b="1" dirty="0">
                <a:latin typeface="+mn-lt"/>
              </a:rPr>
              <a:t>Tabular clinical data:</a:t>
            </a:r>
            <a:r>
              <a:rPr lang="en-IN" sz="2400" dirty="0">
                <a:latin typeface="+mn-lt"/>
              </a:rPr>
              <a:t> </a:t>
            </a:r>
            <a:endParaRPr lang="en-US" sz="2400" dirty="0">
              <a:latin typeface="+mn-lt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5,000</a:t>
            </a:r>
            <a:r>
              <a:rPr sz="2400" spc="-10" dirty="0">
                <a:latin typeface="Calibri"/>
                <a:cs typeface="Calibri"/>
              </a:rPr>
              <a:t> records</a:t>
            </a:r>
            <a:endParaRPr sz="2400" dirty="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spc="-40" dirty="0">
                <a:latin typeface="Calibri"/>
                <a:cs typeface="Calibri"/>
              </a:rPr>
              <a:t>Train/Test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split: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4,000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1,000</a:t>
            </a:r>
            <a:endParaRPr sz="2400" dirty="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group: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school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(5 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18 </a:t>
            </a:r>
            <a:r>
              <a:rPr sz="2400" spc="-10" dirty="0">
                <a:latin typeface="Calibri"/>
                <a:cs typeface="Calibri"/>
              </a:rPr>
              <a:t>years)</a:t>
            </a:r>
            <a:endParaRPr sz="2400" dirty="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include:</a:t>
            </a:r>
            <a:endParaRPr sz="24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754380" algn="l"/>
              </a:tabLst>
            </a:pPr>
            <a:r>
              <a:rPr sz="2400" dirty="0">
                <a:latin typeface="Calibri"/>
                <a:cs typeface="Calibri"/>
              </a:rPr>
              <a:t>BMI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lang="en-US" sz="2400" spc="-30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Screen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near-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hours</a:t>
            </a:r>
            <a:r>
              <a:rPr lang="en-US" sz="2400" spc="-10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Outdoor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sports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participation</a:t>
            </a:r>
            <a:r>
              <a:rPr lang="en-US" sz="2400" spc="-10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Family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history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parental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myopia</a:t>
            </a:r>
            <a:endParaRPr lang="en-IN" sz="2400" dirty="0">
              <a:latin typeface="Calibri"/>
              <a:cs typeface="Calibri"/>
            </a:endParaRPr>
          </a:p>
          <a:p>
            <a:pPr marL="321945" indent="-309245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21945" algn="l"/>
              </a:tabLst>
            </a:pPr>
            <a:r>
              <a:rPr lang="en-IN" sz="2400" spc="-10" dirty="0">
                <a:latin typeface="Calibri"/>
                <a:cs typeface="Calibri"/>
              </a:rPr>
              <a:t>Targets:</a:t>
            </a:r>
            <a:endParaRPr lang="en-IN" sz="24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754380" algn="l"/>
              </a:tabLst>
            </a:pPr>
            <a:r>
              <a:rPr sz="2400" spc="-10" dirty="0" err="1">
                <a:latin typeface="Calibri"/>
                <a:cs typeface="Calibri"/>
              </a:rPr>
              <a:t>Presence_of_RE</a:t>
            </a:r>
            <a:r>
              <a:rPr sz="2400" spc="-10" dirty="0">
                <a:latin typeface="Calibri"/>
                <a:cs typeface="Calibri"/>
              </a:rPr>
              <a:t> (classification)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sz="2400" spc="-10" dirty="0" err="1">
                <a:latin typeface="Calibri"/>
                <a:cs typeface="Calibri"/>
              </a:rPr>
              <a:t>Progression_Risk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(classification)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sz="2400" spc="-10" dirty="0" err="1">
                <a:latin typeface="Calibri"/>
                <a:cs typeface="Calibri"/>
              </a:rPr>
              <a:t>Degree_RE_Diopters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(regression)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C8A40-65F2-0E9E-9B4E-8B649A0A55C8}"/>
              </a:ext>
            </a:extLst>
          </p:cNvPr>
          <p:cNvSpPr txBox="1"/>
          <p:nvPr/>
        </p:nvSpPr>
        <p:spPr>
          <a:xfrm>
            <a:off x="1212804" y="5859004"/>
            <a:ext cx="696372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Image data:</a:t>
            </a:r>
            <a:endParaRPr lang="en-US" sz="2400" b="1" dirty="0">
              <a:solidFill>
                <a:schemeClr val="tx1"/>
              </a:solidFill>
              <a:latin typeface="+mn-lt"/>
            </a:endParaRP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124,794 blue-channel fundus images</a:t>
            </a: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63,294 myopia images and 61,500 normal images.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Training Images: 99836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Test Images: 24958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485A-A113-773D-8CD0-302BFED3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23BDAC6-50C9-2AB2-54D0-75C2DBEB0E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477125"/>
            <a:ext cx="2266950" cy="628648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D65EC3DD-CF26-D8AA-6524-04FB77A6D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0147" y="638174"/>
            <a:ext cx="563118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REQUIREMENTS</a:t>
            </a:r>
            <a:endParaRPr spc="-10" dirty="0">
              <a:solidFill>
                <a:srgbClr val="00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2B43331-057D-E220-6215-A9AA470681F0}"/>
              </a:ext>
            </a:extLst>
          </p:cNvPr>
          <p:cNvSpPr txBox="1"/>
          <p:nvPr/>
        </p:nvSpPr>
        <p:spPr>
          <a:xfrm>
            <a:off x="1245552" y="1647507"/>
            <a:ext cx="5993448" cy="5256567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r>
              <a:rPr lang="en-IN" sz="2400" b="1" dirty="0">
                <a:latin typeface="+mn-lt"/>
              </a:rPr>
              <a:t>Hardware Requirements:</a:t>
            </a:r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For normal running/inference: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Dual-core CPU or better 8 GB RAM minimum, 16 GB recommended10 GB free storage minimum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Internet connection for login, API calls, and package install</a:t>
            </a:r>
          </a:p>
          <a:p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For model training: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Quad-core CPU or better 16 GB RAM recommended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Optional NVIDIA GPU for faster CNN training 20 GB+ free storage for datasets, checkpoints, and logs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E4833-DF0F-3FD5-1760-EABE4A4EC9B1}"/>
              </a:ext>
            </a:extLst>
          </p:cNvPr>
          <p:cNvSpPr txBox="1"/>
          <p:nvPr/>
        </p:nvSpPr>
        <p:spPr>
          <a:xfrm>
            <a:off x="7620000" y="1752600"/>
            <a:ext cx="59934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Software </a:t>
            </a:r>
            <a:r>
              <a:rPr lang="en-IN" sz="2400" b="1" dirty="0">
                <a:latin typeface="+mn-lt"/>
              </a:rPr>
              <a:t>Requirements: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Windows 10/11, Linux, or macOS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Python 3.11+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Node.js 18+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React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Git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+mn-lt"/>
            </a:endParaRPr>
          </a:p>
          <a:p>
            <a:r>
              <a:rPr lang="en-IN" sz="2400" b="1" dirty="0">
                <a:latin typeface="+mn-lt"/>
              </a:rPr>
              <a:t>Project Stack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Frontend: React 18, TypeScript, Vite, Tailwind 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Backend: Flask, Node </a:t>
            </a:r>
            <a:r>
              <a:rPr lang="en-IN" sz="2400" dirty="0" err="1">
                <a:latin typeface="+mn-lt"/>
              </a:rPr>
              <a:t>js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ML: scikit-learn, </a:t>
            </a:r>
            <a:r>
              <a:rPr lang="en-IN" sz="2400" dirty="0" err="1">
                <a:latin typeface="+mn-lt"/>
              </a:rPr>
              <a:t>XGBoost</a:t>
            </a:r>
            <a:r>
              <a:rPr lang="en-IN" sz="2400" dirty="0">
                <a:latin typeface="+mn-lt"/>
              </a:rPr>
              <a:t>, Image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Training: TensorFlow/</a:t>
            </a:r>
            <a:r>
              <a:rPr lang="en-IN" sz="2400" dirty="0" err="1">
                <a:latin typeface="+mn-lt"/>
              </a:rPr>
              <a:t>Keras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PDF generation: </a:t>
            </a:r>
            <a:r>
              <a:rPr lang="en-IN" sz="2400" dirty="0" err="1">
                <a:latin typeface="+mn-lt"/>
              </a:rPr>
              <a:t>jsPDF</a:t>
            </a:r>
            <a:endParaRPr lang="en-IN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3457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486650"/>
            <a:ext cx="2266950" cy="6286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147" y="2251773"/>
            <a:ext cx="835850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882640" algn="l"/>
              </a:tabLst>
            </a:pPr>
            <a:r>
              <a:rPr sz="2750" dirty="0">
                <a:latin typeface="Calibri"/>
                <a:cs typeface="Calibri"/>
              </a:rPr>
              <a:t>Team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Member</a:t>
            </a:r>
            <a:r>
              <a:rPr sz="2750" spc="-3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1:</a:t>
            </a:r>
            <a:r>
              <a:rPr sz="2750" dirty="0">
                <a:latin typeface="Calibri"/>
                <a:cs typeface="Calibri"/>
              </a:rPr>
              <a:t>	</a:t>
            </a:r>
            <a:r>
              <a:rPr sz="2750" spc="-10" dirty="0">
                <a:latin typeface="Calibri"/>
                <a:cs typeface="Calibri"/>
              </a:rPr>
              <a:t>Team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Member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2: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555" y="2871533"/>
            <a:ext cx="5204460" cy="22282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preprocessing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engineering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20" dirty="0">
                <a:latin typeface="Calibri"/>
                <a:cs typeface="Calibri"/>
              </a:rPr>
              <a:t>Evaluation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metric</a:t>
            </a:r>
            <a:r>
              <a:rPr sz="2400" spc="-10" dirty="0">
                <a:latin typeface="Calibri"/>
                <a:cs typeface="Calibri"/>
              </a:rPr>
              <a:t> analysis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10" dirty="0">
                <a:latin typeface="Calibri"/>
                <a:cs typeface="Calibri"/>
              </a:rPr>
              <a:t>Backend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pipeline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integration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97180" algn="l"/>
              </a:tabLst>
            </a:pPr>
            <a:r>
              <a:rPr spc="-10" dirty="0"/>
              <a:t>Frontend</a:t>
            </a:r>
            <a:r>
              <a:rPr spc="-60" dirty="0"/>
              <a:t> </a:t>
            </a:r>
            <a:r>
              <a:rPr spc="-10" dirty="0"/>
              <a:t>development</a:t>
            </a:r>
            <a:r>
              <a:rPr spc="-5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visualization</a:t>
            </a: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/>
              <a:t>API</a:t>
            </a:r>
            <a:r>
              <a:rPr spc="-55" dirty="0"/>
              <a:t> </a:t>
            </a:r>
            <a:r>
              <a:rPr spc="-10" dirty="0"/>
              <a:t>integration</a:t>
            </a:r>
            <a:r>
              <a:rPr spc="-3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testing</a:t>
            </a: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/>
              <a:t>Deployment</a:t>
            </a:r>
            <a:r>
              <a:rPr spc="-130" dirty="0"/>
              <a:t> </a:t>
            </a:r>
            <a:r>
              <a:rPr spc="-20" dirty="0"/>
              <a:t>setup</a:t>
            </a: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pc="-10" dirty="0"/>
              <a:t>Documentation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presentation</a:t>
            </a:r>
            <a:r>
              <a:rPr spc="-65" dirty="0"/>
              <a:t> </a:t>
            </a:r>
            <a:r>
              <a:rPr spc="-10" dirty="0"/>
              <a:t>preparation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8282" rIns="0" bIns="0" rtlCol="0">
            <a:spAutoFit/>
          </a:bodyPr>
          <a:lstStyle/>
          <a:p>
            <a:pPr marL="410845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Team</a:t>
            </a:r>
            <a:r>
              <a:rPr spc="-110" dirty="0"/>
              <a:t> </a:t>
            </a:r>
            <a:r>
              <a:rPr dirty="0"/>
              <a:t>Roles</a:t>
            </a:r>
            <a:r>
              <a:rPr spc="-120" dirty="0"/>
              <a:t> </a:t>
            </a:r>
            <a:r>
              <a:rPr dirty="0"/>
              <a:t>&amp;</a:t>
            </a:r>
            <a:r>
              <a:rPr spc="-125" dirty="0"/>
              <a:t> </a:t>
            </a:r>
            <a:r>
              <a:rPr spc="-10" dirty="0"/>
              <a:t>Responsibilities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8200" y="7524750"/>
            <a:ext cx="2266950" cy="6286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7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000000"/>
                </a:solidFill>
              </a:rPr>
              <a:t>APPLICATIONS</a:t>
            </a:r>
            <a:r>
              <a:rPr spc="-1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BENEFITS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4435" y="2468562"/>
            <a:ext cx="5382895" cy="3328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spc="-10" dirty="0">
                <a:latin typeface="Calibri"/>
                <a:cs typeface="Calibri"/>
              </a:rPr>
              <a:t>Applications:</a:t>
            </a:r>
            <a:endParaRPr sz="275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245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School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screening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programs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10" dirty="0">
                <a:latin typeface="Calibri"/>
                <a:cs typeface="Calibri"/>
              </a:rPr>
              <a:t>Eye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clinics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triage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20" dirty="0">
                <a:latin typeface="Calibri"/>
                <a:cs typeface="Calibri"/>
              </a:rPr>
              <a:t>Preventive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pediatric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platforms</a:t>
            </a:r>
            <a:endParaRPr sz="2400">
              <a:latin typeface="Calibri"/>
              <a:cs typeface="Calibri"/>
            </a:endParaRPr>
          </a:p>
          <a:p>
            <a:pPr marL="296545" marR="5080" indent="-284480">
              <a:lnSpc>
                <a:spcPct val="151200"/>
              </a:lnSpc>
              <a:buFont typeface="Arial MT"/>
              <a:buChar char="•"/>
              <a:tabLst>
                <a:tab pos="298450" algn="l"/>
              </a:tabLst>
            </a:pPr>
            <a:r>
              <a:rPr sz="2400" spc="-10" dirty="0">
                <a:latin typeface="Calibri"/>
                <a:cs typeface="Calibri"/>
              </a:rPr>
              <a:t>Research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myopia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progression 	studies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06131" y="2420874"/>
            <a:ext cx="1335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10" dirty="0">
                <a:latin typeface="Calibri"/>
                <a:cs typeface="Calibri"/>
              </a:rPr>
              <a:t>Benefits: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06131" y="2968688"/>
            <a:ext cx="5978525" cy="22282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cost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10" dirty="0">
                <a:latin typeface="Calibri"/>
                <a:cs typeface="Calibri"/>
              </a:rPr>
              <a:t>Non-invasive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screening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Fast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scalable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workflow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awareness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preventive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interventions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7275" y="7572373"/>
            <a:ext cx="2085975" cy="5810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4405" y="484123"/>
            <a:ext cx="226441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>
                <a:solidFill>
                  <a:srgbClr val="000000"/>
                </a:solidFill>
              </a:rPr>
              <a:t>RESULTS: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952817" y="1413573"/>
            <a:ext cx="5600383" cy="4898136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/>
              <a:t>Model </a:t>
            </a:r>
            <a:r>
              <a:rPr spc="-10" dirty="0"/>
              <a:t>Performance:</a:t>
            </a:r>
          </a:p>
          <a:p>
            <a:pPr marL="354965" indent="-3422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354965" algn="l"/>
              </a:tabLst>
            </a:pPr>
            <a:r>
              <a:rPr b="0" dirty="0">
                <a:latin typeface="Calibri"/>
                <a:cs typeface="Calibri"/>
              </a:rPr>
              <a:t>Stage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1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(Has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RE):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AUC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0.9451</a:t>
            </a:r>
          </a:p>
          <a:p>
            <a:pPr marL="354965" marR="549275" indent="-342900">
              <a:lnSpc>
                <a:spcPts val="285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b="0" dirty="0">
                <a:latin typeface="Calibri"/>
                <a:cs typeface="Calibri"/>
              </a:rPr>
              <a:t>Stage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2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(Risk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progression):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AUC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0.8941, Accuracy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81.2%</a:t>
            </a:r>
          </a:p>
          <a:p>
            <a:pPr marL="354965" indent="-34226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54965" algn="l"/>
              </a:tabLst>
            </a:pPr>
            <a:r>
              <a:rPr b="0" dirty="0">
                <a:latin typeface="Calibri"/>
                <a:cs typeface="Calibri"/>
              </a:rPr>
              <a:t>Stage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3 </a:t>
            </a:r>
            <a:r>
              <a:rPr b="0" spc="-10" dirty="0">
                <a:latin typeface="Calibri"/>
                <a:cs typeface="Calibri"/>
              </a:rPr>
              <a:t>(Diopter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regression):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MAE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1.71 </a:t>
            </a:r>
            <a:r>
              <a:rPr b="0" spc="-50" dirty="0">
                <a:latin typeface="Calibri"/>
                <a:cs typeface="Calibri"/>
              </a:rPr>
              <a:t>D</a:t>
            </a:r>
            <a:endParaRPr lang="en-US" b="0" spc="-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354965" algn="l"/>
              </a:tabLst>
            </a:pPr>
            <a:endParaRPr b="0" spc="-50" dirty="0">
              <a:latin typeface="Calibri"/>
              <a:cs typeface="Calibri"/>
            </a:endParaRPr>
          </a:p>
          <a:p>
            <a:r>
              <a:rPr lang="en-US" dirty="0"/>
              <a:t>Image Model Performance: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Accuracy:</a:t>
            </a:r>
            <a:r>
              <a:rPr lang="en-US" b="0" dirty="0"/>
              <a:t> 99.71%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AUC:</a:t>
            </a:r>
            <a:r>
              <a:rPr lang="en-US" b="0" dirty="0"/>
              <a:t> 0.9998 (Exceptional)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Loss:</a:t>
            </a:r>
            <a:r>
              <a:rPr lang="en-US" b="0" dirty="0"/>
              <a:t> 0.0081</a:t>
            </a:r>
          </a:p>
          <a:p>
            <a:pPr>
              <a:lnSpc>
                <a:spcPct val="100000"/>
              </a:lnSpc>
              <a:spcBef>
                <a:spcPts val="1395"/>
              </a:spcBef>
              <a:buClr>
                <a:srgbClr val="0D0D0D"/>
              </a:buClr>
            </a:pPr>
            <a:endParaRPr b="0" spc="-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4200" y="1412003"/>
            <a:ext cx="7391399" cy="567014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400" b="1" dirty="0">
                <a:latin typeface="+mn-lt"/>
              </a:rPr>
              <a:t>Key</a:t>
            </a:r>
            <a:r>
              <a:rPr lang="en-US" sz="2400" b="1" spc="-100" dirty="0">
                <a:latin typeface="+mn-lt"/>
              </a:rPr>
              <a:t> </a:t>
            </a:r>
            <a:r>
              <a:rPr lang="en-US" sz="2400" b="1" spc="-10" dirty="0">
                <a:latin typeface="+mn-lt"/>
              </a:rPr>
              <a:t>Findings:</a:t>
            </a:r>
          </a:p>
          <a:p>
            <a:pPr marL="354965" marR="815340" indent="-342900">
              <a:lnSpc>
                <a:spcPts val="2850"/>
              </a:lnSpc>
              <a:spcBef>
                <a:spcPts val="167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b="0" dirty="0">
                <a:latin typeface="Calibri"/>
                <a:cs typeface="Calibri"/>
              </a:rPr>
              <a:t>Higher</a:t>
            </a:r>
            <a:r>
              <a:rPr lang="en-US" sz="2400" b="0" spc="-1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screen</a:t>
            </a:r>
            <a:r>
              <a:rPr lang="en-US" sz="2400" b="0" spc="-55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and</a:t>
            </a:r>
            <a:r>
              <a:rPr lang="en-US" sz="2400" b="0" spc="-55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near-</a:t>
            </a:r>
            <a:r>
              <a:rPr lang="en-US" sz="2400" b="0" dirty="0">
                <a:latin typeface="Calibri"/>
                <a:cs typeface="Calibri"/>
              </a:rPr>
              <a:t>work</a:t>
            </a:r>
            <a:r>
              <a:rPr lang="en-US" sz="2400" b="0" spc="-105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exposure </a:t>
            </a:r>
            <a:r>
              <a:rPr lang="en-US" sz="2400" b="0" dirty="0">
                <a:latin typeface="Calibri"/>
                <a:cs typeface="Calibri"/>
              </a:rPr>
              <a:t>increase</a:t>
            </a:r>
            <a:r>
              <a:rPr lang="en-US" sz="2400" b="0" spc="-130" dirty="0">
                <a:latin typeface="Calibri"/>
                <a:cs typeface="Calibri"/>
              </a:rPr>
              <a:t> </a:t>
            </a:r>
            <a:r>
              <a:rPr lang="en-US" sz="2400" b="0" spc="-20" dirty="0">
                <a:latin typeface="Calibri"/>
                <a:cs typeface="Calibri"/>
              </a:rPr>
              <a:t>risk</a:t>
            </a:r>
          </a:p>
          <a:p>
            <a:pPr marL="354965" indent="-34226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b="0" dirty="0">
                <a:latin typeface="Calibri"/>
                <a:cs typeface="Calibri"/>
              </a:rPr>
              <a:t>Lower</a:t>
            </a:r>
            <a:r>
              <a:rPr lang="en-US" sz="2400" b="0" spc="-10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outdoor</a:t>
            </a:r>
            <a:r>
              <a:rPr lang="en-US" sz="2400" b="0" spc="-105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activity</a:t>
            </a:r>
            <a:r>
              <a:rPr lang="en-US" sz="2400" b="0" spc="-70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strongly</a:t>
            </a:r>
            <a:r>
              <a:rPr lang="en-US" sz="2400" b="0" spc="-65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increases</a:t>
            </a:r>
            <a:r>
              <a:rPr lang="en-US" sz="2400" b="0" spc="-60" dirty="0">
                <a:latin typeface="Calibri"/>
                <a:cs typeface="Calibri"/>
              </a:rPr>
              <a:t> </a:t>
            </a:r>
            <a:r>
              <a:rPr lang="en-US" sz="2400" b="0" spc="-20" dirty="0">
                <a:latin typeface="Calibri"/>
                <a:cs typeface="Calibri"/>
              </a:rPr>
              <a:t>risk</a:t>
            </a:r>
          </a:p>
          <a:p>
            <a:pPr marL="354965" marR="5080" indent="-342900">
              <a:lnSpc>
                <a:spcPts val="285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b="0" dirty="0">
                <a:latin typeface="Calibri"/>
                <a:cs typeface="Calibri"/>
              </a:rPr>
              <a:t>Family</a:t>
            </a:r>
            <a:r>
              <a:rPr lang="en-US" sz="2400" b="0" spc="-6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history</a:t>
            </a:r>
            <a:r>
              <a:rPr lang="en-US" sz="2400" b="0" spc="-12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and</a:t>
            </a:r>
            <a:r>
              <a:rPr lang="en-US" sz="2400" b="0" spc="-70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parental</a:t>
            </a:r>
            <a:r>
              <a:rPr lang="en-US" sz="2400" b="0" spc="-105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myopia</a:t>
            </a:r>
            <a:r>
              <a:rPr lang="en-US" sz="2400" b="0" spc="-4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are</a:t>
            </a:r>
            <a:r>
              <a:rPr lang="en-US" sz="2400" b="0" spc="-75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major predictors</a:t>
            </a:r>
          </a:p>
          <a:p>
            <a:pPr marL="354965" marR="5080" indent="-342900">
              <a:lnSpc>
                <a:spcPts val="285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sz="2400" dirty="0">
                <a:latin typeface="+mn-lt"/>
              </a:rPr>
              <a:t>Fundus images provide strong diagnostic signal</a:t>
            </a:r>
            <a:endParaRPr lang="en-US" sz="2400" spc="-10" dirty="0">
              <a:solidFill>
                <a:srgbClr val="0D0D0D"/>
              </a:solidFill>
              <a:latin typeface="+mn-lt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b="1" spc="-10" dirty="0">
                <a:solidFill>
                  <a:srgbClr val="0D0D0D"/>
                </a:solidFill>
                <a:latin typeface="Calibri"/>
                <a:cs typeface="Calibri"/>
              </a:rPr>
              <a:t>System</a:t>
            </a:r>
            <a:r>
              <a:rPr sz="2400" b="1" spc="-1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D0D0D"/>
                </a:solidFill>
                <a:latin typeface="Calibri"/>
                <a:cs typeface="Calibri"/>
              </a:rPr>
              <a:t>Output</a:t>
            </a:r>
            <a:r>
              <a:rPr lang="en-US" sz="2400" b="1" spc="-10" dirty="0">
                <a:solidFill>
                  <a:srgbClr val="0D0D0D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Risk</a:t>
            </a:r>
            <a:r>
              <a:rPr sz="24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percentage</a:t>
            </a:r>
            <a:r>
              <a:rPr sz="24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risk</a:t>
            </a:r>
            <a:r>
              <a:rPr sz="24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class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Refractive</a:t>
            </a:r>
            <a:r>
              <a:rPr sz="2400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error</a:t>
            </a:r>
            <a:r>
              <a:rPr sz="2400" spc="-10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probability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Estimated</a:t>
            </a:r>
            <a:r>
              <a:rPr sz="24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severity</a:t>
            </a:r>
            <a:r>
              <a:rPr sz="24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24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clinical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D0D0D"/>
                </a:solidFill>
                <a:latin typeface="Calibri"/>
                <a:cs typeface="Calibri"/>
              </a:rPr>
              <a:t>follow-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up</a:t>
            </a:r>
            <a:r>
              <a:rPr sz="2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 err="1">
                <a:solidFill>
                  <a:srgbClr val="0D0D0D"/>
                </a:solidFill>
                <a:latin typeface="Calibri"/>
                <a:cs typeface="Calibri"/>
              </a:rPr>
              <a:t>guidanc</a:t>
            </a:r>
            <a:r>
              <a:rPr lang="en-IN" sz="2400" spc="-10" dirty="0">
                <a:solidFill>
                  <a:srgbClr val="0D0D0D"/>
                </a:solidFill>
                <a:latin typeface="Calibri"/>
                <a:cs typeface="Calibri"/>
              </a:rPr>
              <a:t>e</a:t>
            </a:r>
            <a:endParaRPr lang="en-US" sz="2400" spc="-10" dirty="0">
              <a:solidFill>
                <a:srgbClr val="0D0D0D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Image classification confidence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Multimodal prediction 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77725" y="7496175"/>
            <a:ext cx="2266950" cy="6286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095" rIns="0" bIns="0" rtlCol="0">
            <a:spAutoFit/>
          </a:bodyPr>
          <a:lstStyle/>
          <a:p>
            <a:pPr marL="931544">
              <a:lnSpc>
                <a:spcPct val="100000"/>
              </a:lnSpc>
              <a:spcBef>
                <a:spcPts val="105"/>
              </a:spcBef>
            </a:pPr>
            <a:r>
              <a:rPr dirty="0"/>
              <a:t>FUTURE</a:t>
            </a:r>
            <a:r>
              <a:rPr spc="-45" dirty="0"/>
              <a:t> </a:t>
            </a:r>
            <a:r>
              <a:rPr spc="-20" dirty="0"/>
              <a:t>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200" y="2133600"/>
            <a:ext cx="10842371" cy="43875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Train with larger multi-</a:t>
            </a:r>
            <a:r>
              <a:rPr lang="en-IN" sz="2400" dirty="0" err="1">
                <a:latin typeface="+mn-lt"/>
              </a:rPr>
              <a:t>center</a:t>
            </a:r>
            <a:r>
              <a:rPr lang="en-IN" sz="2400" dirty="0">
                <a:latin typeface="+mn-lt"/>
              </a:rPr>
              <a:t> clinical datasets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Improve stage 3 regression performance for </a:t>
            </a:r>
            <a:r>
              <a:rPr lang="en-IN" sz="2400" dirty="0" err="1">
                <a:latin typeface="+mn-lt"/>
              </a:rPr>
              <a:t>diopter</a:t>
            </a:r>
            <a:r>
              <a:rPr lang="en-IN" sz="2400" dirty="0">
                <a:latin typeface="+mn-lt"/>
              </a:rPr>
              <a:t> estimation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Expand image model to include OCT (Optical Coherence Tomography)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Integrate slit-lamp and anterior segment imaging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Deploy mobile-first screening workflow with image capture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Develop edge AI solution for offline image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Enable longitudinal tracking and personalized intervention alerts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Combine multiple eye imaging modalities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77725" y="7496175"/>
            <a:ext cx="2266950" cy="6286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54429" y="1909508"/>
            <a:ext cx="10789285" cy="332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292100" indent="-284480">
              <a:lnSpc>
                <a:spcPct val="1512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practical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3-</a:t>
            </a:r>
            <a:r>
              <a:rPr sz="2400" dirty="0">
                <a:latin typeface="Calibri"/>
                <a:cs typeface="Calibri"/>
              </a:rPr>
              <a:t>stage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pipeline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myopia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risk 	</a:t>
            </a:r>
            <a:r>
              <a:rPr sz="2400" spc="-10" dirty="0">
                <a:latin typeface="Calibri"/>
                <a:cs typeface="Calibri"/>
              </a:rPr>
              <a:t>screening.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identifies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lifestyle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genetic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contributors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myopia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progression.</a:t>
            </a:r>
            <a:endParaRPr sz="2400">
              <a:latin typeface="Calibri"/>
              <a:cs typeface="Calibri"/>
            </a:endParaRPr>
          </a:p>
          <a:p>
            <a:pPr marL="297180" marR="5080" indent="-284480">
              <a:lnSpc>
                <a:spcPct val="151200"/>
              </a:lnSpc>
              <a:buFont typeface="Arial MT"/>
              <a:buChar char="•"/>
              <a:tabLst>
                <a:tab pos="29845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web-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deployment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usable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school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clinic 	workflows.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AI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significantly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preventive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eye-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children.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01164" y="857884"/>
            <a:ext cx="333375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6629400"/>
            <a:ext cx="3200400" cy="16001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45304" y="3290951"/>
            <a:ext cx="5927725" cy="1490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600" dirty="0">
                <a:solidFill>
                  <a:srgbClr val="000000"/>
                </a:solidFill>
              </a:rPr>
              <a:t>THANK</a:t>
            </a:r>
            <a:r>
              <a:rPr sz="9600" spc="-45" dirty="0">
                <a:solidFill>
                  <a:srgbClr val="000000"/>
                </a:solidFill>
              </a:rPr>
              <a:t> </a:t>
            </a:r>
            <a:r>
              <a:rPr sz="9600" spc="-75" dirty="0">
                <a:solidFill>
                  <a:srgbClr val="000000"/>
                </a:solidFill>
              </a:rPr>
              <a:t>YOU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808</Words>
  <Application>Microsoft Office PowerPoint</Application>
  <PresentationFormat>Custom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MT</vt:lpstr>
      <vt:lpstr>Calibri</vt:lpstr>
      <vt:lpstr>Office Theme</vt:lpstr>
      <vt:lpstr>AI-Based Multivariate Risk Prediction System for Early Detection of Myopia in School-Aged Children</vt:lpstr>
      <vt:lpstr>Myopia: A Growing Pediatric Health Crisis</vt:lpstr>
      <vt:lpstr>Project Objectives</vt:lpstr>
      <vt:lpstr>SYSTEM ARCHITECTURE</vt:lpstr>
      <vt:lpstr>MODELS USED</vt:lpstr>
      <vt:lpstr>DATASET DESCRIPTION</vt:lpstr>
      <vt:lpstr>REQUIREMENTS</vt:lpstr>
      <vt:lpstr>Team Roles &amp; Responsibilities</vt:lpstr>
      <vt:lpstr>APPLICATIONS AND BENEFITS</vt:lpstr>
      <vt:lpstr>RESULTS:</vt:lpstr>
      <vt:lpstr>FUTURE WORK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Nency Pansuriya</cp:lastModifiedBy>
  <cp:revision>7</cp:revision>
  <dcterms:created xsi:type="dcterms:W3CDTF">2026-05-01T13:43:32Z</dcterms:created>
  <dcterms:modified xsi:type="dcterms:W3CDTF">2026-05-01T15:49:01Z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2026-05-01T00:00:00Z</vt:filetime>
  </property>
  <property fmtid="{D5CDD505-2E9C-101B-9397-08002B2CF9AE}" pid="4" name="LastSaved">
    <vt:filetime>2026-05-01T00:00:00Z</vt:filetime>
  </property>
</Properties>
</file>