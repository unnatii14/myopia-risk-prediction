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8" r:id="rId7"/>
    <p:sldId id="262" r:id="rId8"/>
    <p:sldId id="263" r:id="rId9"/>
    <p:sldId id="264" r:id="rId10"/>
    <p:sldId id="265" r:id="rId11"/>
    <p:sldId id="267" r:id="rId12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87" autoAdjust="0"/>
    <p:restoredTop sz="94660"/>
  </p:normalViewPr>
  <p:slideViewPr>
    <p:cSldViewPr>
      <p:cViewPr varScale="1">
        <p:scale>
          <a:sx n="93" d="100"/>
          <a:sy n="93" d="100"/>
        </p:scale>
        <p:origin x="7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2817" y="1413573"/>
            <a:ext cx="5965825" cy="548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94576" y="7803970"/>
            <a:ext cx="1614272" cy="3037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684" y="484123"/>
            <a:ext cx="9338945" cy="12231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38975" y="2871533"/>
            <a:ext cx="5941059" cy="2228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600950"/>
            <a:ext cx="2266950" cy="628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46785" y="3234435"/>
            <a:ext cx="12280900" cy="1455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94410" marR="5080" indent="-982344">
              <a:lnSpc>
                <a:spcPct val="106600"/>
              </a:lnSpc>
              <a:spcBef>
                <a:spcPts val="95"/>
              </a:spcBef>
            </a:pPr>
            <a:r>
              <a:rPr sz="4400" dirty="0">
                <a:solidFill>
                  <a:srgbClr val="1B1B27"/>
                </a:solidFill>
              </a:rPr>
              <a:t>AI-Based</a:t>
            </a:r>
            <a:r>
              <a:rPr sz="4400" spc="-4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Multivariate</a:t>
            </a:r>
            <a:r>
              <a:rPr sz="4400" spc="1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Risk</a:t>
            </a:r>
            <a:r>
              <a:rPr sz="4400" spc="-2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Prediction</a:t>
            </a:r>
            <a:r>
              <a:rPr sz="4400" spc="-4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System</a:t>
            </a:r>
            <a:r>
              <a:rPr sz="4400" spc="-5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for</a:t>
            </a:r>
            <a:r>
              <a:rPr sz="4400" spc="-20" dirty="0">
                <a:solidFill>
                  <a:srgbClr val="1B1B27"/>
                </a:solidFill>
              </a:rPr>
              <a:t> </a:t>
            </a:r>
            <a:r>
              <a:rPr sz="4400" spc="-10" dirty="0">
                <a:solidFill>
                  <a:srgbClr val="1B1B27"/>
                </a:solidFill>
              </a:rPr>
              <a:t>Early </a:t>
            </a:r>
            <a:r>
              <a:rPr sz="4400" dirty="0">
                <a:solidFill>
                  <a:srgbClr val="1B1B27"/>
                </a:solidFill>
              </a:rPr>
              <a:t>Detection</a:t>
            </a:r>
            <a:r>
              <a:rPr sz="4400" spc="1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of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Myopia</a:t>
            </a:r>
            <a:r>
              <a:rPr sz="4400" spc="2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in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School-Aged</a:t>
            </a:r>
            <a:r>
              <a:rPr sz="4400" spc="35" dirty="0">
                <a:solidFill>
                  <a:srgbClr val="1B1B27"/>
                </a:solidFill>
              </a:rPr>
              <a:t> </a:t>
            </a:r>
            <a:r>
              <a:rPr sz="4400" spc="-10" dirty="0">
                <a:solidFill>
                  <a:srgbClr val="1B1B27"/>
                </a:solidFill>
              </a:rPr>
              <a:t>Children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11012805" y="6260655"/>
            <a:ext cx="2675890" cy="113157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Team</a:t>
            </a:r>
            <a:r>
              <a:rPr sz="1700" b="1" spc="-5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3B3939"/>
                </a:solidFill>
                <a:latin typeface="Calibri"/>
                <a:cs typeface="Calibri"/>
              </a:rPr>
              <a:t>Members: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Nency</a:t>
            </a:r>
            <a:r>
              <a:rPr sz="1700" spc="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Pansuriya(23AIML043)</a:t>
            </a:r>
            <a:endParaRPr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Unnati</a:t>
            </a:r>
            <a:r>
              <a:rPr sz="1700" spc="12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Tank(23AIML069)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34175" y="904875"/>
            <a:ext cx="704850" cy="6762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0653" y="1910624"/>
            <a:ext cx="9596663" cy="2917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58675" y="7600950"/>
            <a:ext cx="2266950" cy="62864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684" y="1583308"/>
            <a:ext cx="954214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400" dirty="0">
                <a:solidFill>
                  <a:srgbClr val="1B1B27"/>
                </a:solidFill>
              </a:rPr>
              <a:t>Myopia:</a:t>
            </a:r>
            <a:r>
              <a:rPr sz="4400" spc="-5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A Growing</a:t>
            </a:r>
            <a:r>
              <a:rPr sz="4400" spc="40" dirty="0">
                <a:solidFill>
                  <a:srgbClr val="1B1B27"/>
                </a:solidFill>
              </a:rPr>
              <a:t> </a:t>
            </a:r>
            <a:r>
              <a:rPr sz="4400" dirty="0">
                <a:solidFill>
                  <a:srgbClr val="1B1B27"/>
                </a:solidFill>
              </a:rPr>
              <a:t>Pediatric Health</a:t>
            </a:r>
            <a:r>
              <a:rPr sz="4400" spc="-10" dirty="0">
                <a:solidFill>
                  <a:srgbClr val="1B1B27"/>
                </a:solidFill>
              </a:rPr>
              <a:t> Crisis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781684" y="2921093"/>
            <a:ext cx="5730875" cy="3895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715" algn="just">
              <a:lnSpc>
                <a:spcPct val="142600"/>
              </a:lnSpc>
              <a:spcBef>
                <a:spcPts val="110"/>
              </a:spcBef>
            </a:pP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Myopia</a:t>
            </a:r>
            <a:r>
              <a:rPr sz="1700" spc="2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prevalence</a:t>
            </a:r>
            <a:r>
              <a:rPr sz="1700" spc="2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</a:t>
            </a:r>
            <a:r>
              <a:rPr sz="1700" spc="25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school-aged</a:t>
            </a:r>
            <a:r>
              <a:rPr sz="1700" spc="22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children</a:t>
            </a:r>
            <a:r>
              <a:rPr sz="1700" spc="2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has</a:t>
            </a:r>
            <a:r>
              <a:rPr sz="1700" spc="22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increased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dramatically,</a:t>
            </a:r>
            <a:r>
              <a:rPr sz="1700" spc="12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with</a:t>
            </a:r>
            <a:r>
              <a:rPr sz="1700" spc="11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projections</a:t>
            </a:r>
            <a:r>
              <a:rPr sz="1700" spc="1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indicating</a:t>
            </a:r>
            <a:r>
              <a:rPr sz="1700" spc="1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50%</a:t>
            </a:r>
            <a:r>
              <a:rPr sz="1700" spc="114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of</a:t>
            </a:r>
            <a:r>
              <a:rPr sz="1700" spc="13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the</a:t>
            </a:r>
            <a:r>
              <a:rPr sz="1700" spc="12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global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population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will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myopic</a:t>
            </a:r>
            <a:r>
              <a:rPr sz="1700" spc="1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by</a:t>
            </a:r>
            <a:r>
              <a:rPr sz="1700" spc="14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2050.</a:t>
            </a:r>
            <a:r>
              <a:rPr sz="1700" spc="11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Current</a:t>
            </a:r>
            <a:r>
              <a:rPr sz="1700" spc="8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detection</a:t>
            </a:r>
            <a:r>
              <a:rPr sz="1700" spc="18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methods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rely</a:t>
            </a:r>
            <a:r>
              <a:rPr sz="1700" spc="16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on</a:t>
            </a:r>
            <a:r>
              <a:rPr sz="1700" spc="2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symptomatic</a:t>
            </a:r>
            <a:r>
              <a:rPr sz="1700" spc="18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presentation,</a:t>
            </a:r>
            <a:r>
              <a:rPr sz="1700" spc="204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missing</a:t>
            </a:r>
            <a:r>
              <a:rPr sz="1700" spc="1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critical</a:t>
            </a:r>
            <a:r>
              <a:rPr sz="1700" spc="21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intervention windows.</a:t>
            </a:r>
            <a:endParaRPr sz="1700" dirty="0">
              <a:latin typeface="Calibri"/>
              <a:cs typeface="Calibri"/>
            </a:endParaRPr>
          </a:p>
          <a:p>
            <a:pPr marL="12700" marR="5080" algn="just">
              <a:lnSpc>
                <a:spcPct val="142600"/>
              </a:lnSpc>
              <a:spcBef>
                <a:spcPts val="1365"/>
              </a:spcBef>
            </a:pP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Our</a:t>
            </a:r>
            <a:r>
              <a:rPr sz="1700" b="1" spc="35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AI</a:t>
            </a:r>
            <a:r>
              <a:rPr sz="1700" b="1" spc="3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b="1" dirty="0">
                <a:solidFill>
                  <a:srgbClr val="3B3939"/>
                </a:solidFill>
                <a:latin typeface="Calibri"/>
                <a:cs typeface="Calibri"/>
              </a:rPr>
              <a:t>Solution:</a:t>
            </a:r>
            <a:r>
              <a:rPr sz="1700" b="1" spc="34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</a:t>
            </a:r>
            <a:r>
              <a:rPr sz="1700" spc="34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predictive</a:t>
            </a:r>
            <a:r>
              <a:rPr sz="1700" spc="33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risk</a:t>
            </a:r>
            <a:r>
              <a:rPr sz="1700" spc="33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stratification</a:t>
            </a:r>
            <a:r>
              <a:rPr sz="1700" spc="35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system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leveraging</a:t>
            </a:r>
            <a:r>
              <a:rPr sz="1700" spc="70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multivariate</a:t>
            </a:r>
            <a:r>
              <a:rPr sz="1700" spc="4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clinical,</a:t>
            </a:r>
            <a:r>
              <a:rPr sz="1700" spc="49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behavioral,</a:t>
            </a:r>
            <a:r>
              <a:rPr sz="1700" spc="75" dirty="0">
                <a:solidFill>
                  <a:srgbClr val="3B3939"/>
                </a:solidFill>
                <a:latin typeface="Calibri"/>
                <a:cs typeface="Calibri"/>
              </a:rPr>
              <a:t>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sz="1700" spc="45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demographic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features</a:t>
            </a:r>
            <a:r>
              <a:rPr sz="1700" spc="35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to</a:t>
            </a:r>
            <a:r>
              <a:rPr sz="1700" spc="3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identify</a:t>
            </a:r>
            <a:r>
              <a:rPr sz="1700" spc="34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high-risk</a:t>
            </a:r>
            <a:r>
              <a:rPr sz="1700" spc="330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children</a:t>
            </a:r>
            <a:r>
              <a:rPr sz="1700" spc="34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before</a:t>
            </a:r>
            <a:r>
              <a:rPr sz="1700" spc="32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symptom</a:t>
            </a:r>
            <a:r>
              <a:rPr sz="1700" spc="385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onset.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This</a:t>
            </a:r>
            <a:r>
              <a:rPr sz="1700" spc="290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enables</a:t>
            </a:r>
            <a:r>
              <a:rPr sz="1700" spc="27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proactive</a:t>
            </a:r>
            <a:r>
              <a:rPr sz="1700" spc="29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intervention</a:t>
            </a:r>
            <a:r>
              <a:rPr sz="1700" spc="285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and</a:t>
            </a:r>
            <a:r>
              <a:rPr sz="1700" spc="280" dirty="0">
                <a:solidFill>
                  <a:srgbClr val="3B3939"/>
                </a:solidFill>
                <a:latin typeface="Calibri"/>
                <a:cs typeface="Calibri"/>
              </a:rPr>
              <a:t>  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personalized </a:t>
            </a:r>
            <a:r>
              <a:rPr sz="1700" dirty="0">
                <a:solidFill>
                  <a:srgbClr val="3B3939"/>
                </a:solidFill>
                <a:latin typeface="Calibri"/>
                <a:cs typeface="Calibri"/>
              </a:rPr>
              <a:t>monitoring</a:t>
            </a:r>
            <a:r>
              <a:rPr sz="1700" spc="204" dirty="0">
                <a:solidFill>
                  <a:srgbClr val="3B3939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3B3939"/>
                </a:solidFill>
                <a:latin typeface="Calibri"/>
                <a:cs typeface="Calibri"/>
              </a:rPr>
              <a:t>protocols.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5" name="object 5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58025" y="3181350"/>
            <a:ext cx="678180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684" y="1326514"/>
            <a:ext cx="449707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1B1B27"/>
                </a:solidFill>
              </a:rPr>
              <a:t>Project</a:t>
            </a:r>
            <a:r>
              <a:rPr spc="-130" dirty="0">
                <a:solidFill>
                  <a:srgbClr val="1B1B27"/>
                </a:solidFill>
              </a:rPr>
              <a:t> </a:t>
            </a:r>
            <a:r>
              <a:rPr spc="-10" dirty="0">
                <a:solidFill>
                  <a:srgbClr val="1B1B27"/>
                </a:solidFill>
              </a:rPr>
              <a:t>Objectives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90892" y="2348928"/>
            <a:ext cx="5513070" cy="442150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31775" indent="-219075">
              <a:lnSpc>
                <a:spcPct val="100000"/>
              </a:lnSpc>
              <a:spcBef>
                <a:spcPts val="15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presence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myopia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(Yes/No)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spc="-10" dirty="0">
                <a:latin typeface="Calibri"/>
                <a:cs typeface="Calibri"/>
              </a:rPr>
              <a:t>Analyze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risk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factors:</a:t>
            </a:r>
            <a:endParaRPr sz="240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1400"/>
              </a:spcBef>
              <a:buFont typeface="+mj-lt"/>
              <a:buAutoNum type="romanUcPeriod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Screen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1475"/>
              </a:spcBef>
              <a:buFont typeface="+mj-lt"/>
              <a:buAutoNum type="romanUcPeriod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Outdoor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activity</a:t>
            </a:r>
            <a:endParaRPr sz="240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1475"/>
              </a:spcBef>
              <a:buFont typeface="+mj-lt"/>
              <a:buAutoNum type="romanUcPeriod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Family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history</a:t>
            </a:r>
            <a:endParaRPr sz="2400" dirty="0">
              <a:latin typeface="Calibri"/>
              <a:cs typeface="Calibri"/>
            </a:endParaRPr>
          </a:p>
          <a:p>
            <a:pPr marL="527050" indent="-514350">
              <a:lnSpc>
                <a:spcPct val="100000"/>
              </a:lnSpc>
              <a:spcBef>
                <a:spcPts val="1400"/>
              </a:spcBef>
              <a:buFont typeface="+mj-lt"/>
              <a:buAutoNum type="romanUcPeriod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Classify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level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75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interpretable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ML</a:t>
            </a:r>
            <a:r>
              <a:rPr sz="2400" spc="-10" dirty="0">
                <a:latin typeface="Calibri"/>
                <a:cs typeface="Calibri"/>
              </a:rPr>
              <a:t> model</a:t>
            </a:r>
            <a:endParaRPr sz="2400" dirty="0">
              <a:latin typeface="Calibri"/>
              <a:cs typeface="Calibri"/>
            </a:endParaRPr>
          </a:p>
          <a:p>
            <a:pPr marL="231775" indent="-219075">
              <a:lnSpc>
                <a:spcPct val="100000"/>
              </a:lnSpc>
              <a:spcBef>
                <a:spcPts val="1400"/>
              </a:spcBef>
              <a:buChar char="•"/>
              <a:tabLst>
                <a:tab pos="231775" algn="l"/>
              </a:tabLst>
            </a:pP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insights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prevention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D3D23-6AF9-1C29-2A5C-DE230E0F5E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3" b="356"/>
          <a:stretch>
            <a:fillRect/>
          </a:stretch>
        </p:blipFill>
        <p:spPr>
          <a:xfrm>
            <a:off x="8077200" y="1326514"/>
            <a:ext cx="5544324" cy="57944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58200" y="6989148"/>
            <a:ext cx="4369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000000"/>
                </a:solidFill>
              </a:rPr>
              <a:t>SYSTEM</a:t>
            </a:r>
            <a:r>
              <a:rPr lang="en-IN" spc="-160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OVERVIEW</a:t>
            </a:r>
            <a:r>
              <a:rPr lang="en-IN" spc="-140" dirty="0">
                <a:solidFill>
                  <a:srgbClr val="000000"/>
                </a:solidFill>
              </a:rPr>
              <a:t> </a:t>
            </a:r>
            <a:r>
              <a:rPr lang="en-IN" dirty="0">
                <a:solidFill>
                  <a:srgbClr val="000000"/>
                </a:solidFill>
              </a:rPr>
              <a:t>/</a:t>
            </a:r>
            <a:r>
              <a:rPr lang="en-IN" spc="-150" dirty="0">
                <a:solidFill>
                  <a:srgbClr val="000000"/>
                </a:solidFill>
              </a:rPr>
              <a:t> </a:t>
            </a:r>
            <a:r>
              <a:rPr lang="en-IN" spc="-10" dirty="0">
                <a:solidFill>
                  <a:srgbClr val="000000"/>
                </a:solidFill>
              </a:rPr>
              <a:t>ARCHITECTURE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753348"/>
            <a:ext cx="2266950" cy="4095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217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MODELS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USED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72539" y="1799907"/>
            <a:ext cx="5937885" cy="60683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325" indent="-301625">
              <a:lnSpc>
                <a:spcPts val="2865"/>
              </a:lnSpc>
              <a:spcBef>
                <a:spcPts val="100"/>
              </a:spcBef>
              <a:buAutoNum type="arabicPeriod"/>
              <a:tabLst>
                <a:tab pos="314325" algn="l"/>
              </a:tabLst>
            </a:pPr>
            <a:r>
              <a:rPr sz="2400" b="1" spc="-10" dirty="0">
                <a:latin typeface="Calibri"/>
                <a:cs typeface="Calibri"/>
              </a:rPr>
              <a:t>XGBoost</a:t>
            </a:r>
            <a:r>
              <a:rPr sz="2400" b="1" spc="-10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Classifier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Detect presence of refractive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94.51% (AUC)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Gradient boosting with decision trees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Primary screening model</a:t>
            </a:r>
          </a:p>
          <a:p>
            <a:pPr lvl="1">
              <a:lnSpc>
                <a:spcPct val="100000"/>
              </a:lnSpc>
              <a:spcBef>
                <a:spcPts val="1000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sz="2400" b="1" dirty="0">
                <a:latin typeface="Calibri"/>
                <a:cs typeface="Calibri"/>
              </a:rPr>
              <a:t>2: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Gradient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Boosting</a:t>
            </a:r>
            <a:r>
              <a:rPr sz="2400" b="1" spc="-10" dirty="0">
                <a:latin typeface="Calibri"/>
                <a:cs typeface="Calibri"/>
              </a:rPr>
              <a:t> Classifier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Classify progression risk (High/Low-Moderate)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81.2%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Disease progression pattern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Risk stratification &amp; intervention planning</a:t>
            </a:r>
          </a:p>
          <a:p>
            <a:pPr marL="322580" lvl="1" indent="-30988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32258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48600" y="1799907"/>
            <a:ext cx="5937885" cy="518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230" indent="-303530">
              <a:lnSpc>
                <a:spcPts val="2865"/>
              </a:lnSpc>
              <a:spcBef>
                <a:spcPts val="100"/>
              </a:spcBef>
              <a:buAutoNum type="arabicPeriod" startAt="3"/>
              <a:tabLst>
                <a:tab pos="316230" algn="l"/>
              </a:tabLst>
            </a:pPr>
            <a:r>
              <a:rPr sz="2400" b="1" dirty="0">
                <a:latin typeface="Calibri"/>
                <a:cs typeface="Calibri"/>
              </a:rPr>
              <a:t>Random</a:t>
            </a:r>
            <a:r>
              <a:rPr sz="2400" b="1" spc="-9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Forest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Regressor</a:t>
            </a:r>
            <a:endParaRPr sz="2400" dirty="0">
              <a:latin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Predict diopter value (severity)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R² = 0.827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Multiple decision trees for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Numerical severity estimation</a:t>
            </a:r>
          </a:p>
          <a:p>
            <a:endParaRPr lang="en-US" sz="2400" dirty="0">
              <a:latin typeface="+mn-lt"/>
            </a:endParaRPr>
          </a:p>
          <a:p>
            <a:r>
              <a:rPr lang="en-IN" sz="2400" b="1" dirty="0">
                <a:latin typeface="+mn-lt"/>
              </a:rPr>
              <a:t>4. MobileNetV2 CNN (Image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Target:</a:t>
            </a:r>
            <a:r>
              <a:rPr lang="en-US" sz="2400" dirty="0">
                <a:latin typeface="+mn-lt"/>
              </a:rPr>
              <a:t> Classify myopia from fundus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Accuracy:</a:t>
            </a:r>
            <a:r>
              <a:rPr lang="en-US" sz="2400" dirty="0">
                <a:latin typeface="+mn-lt"/>
              </a:rPr>
              <a:t> 99.71%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AUC:</a:t>
            </a:r>
            <a:r>
              <a:rPr lang="en-US" sz="2400" dirty="0">
                <a:latin typeface="+mn-lt"/>
              </a:rPr>
              <a:t> 0.9998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Method:</a:t>
            </a:r>
            <a:r>
              <a:rPr lang="en-US" sz="2400" dirty="0">
                <a:latin typeface="+mn-lt"/>
              </a:rPr>
              <a:t> Transfer learning with ImageNet weights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n-lt"/>
              </a:rPr>
              <a:t>Role:</a:t>
            </a:r>
            <a:r>
              <a:rPr lang="en-US" sz="2400" dirty="0">
                <a:latin typeface="+mn-lt"/>
              </a:rPr>
              <a:t> Image-based diagnosis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0147" y="638174"/>
            <a:ext cx="56311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5" dirty="0">
                <a:solidFill>
                  <a:srgbClr val="000000"/>
                </a:solidFill>
              </a:rPr>
              <a:t>DATASET</a:t>
            </a:r>
            <a:r>
              <a:rPr spc="-1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DESCRIPTION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C8A40-65F2-0E9E-9B4E-8B649A0A55C8}"/>
              </a:ext>
            </a:extLst>
          </p:cNvPr>
          <p:cNvSpPr txBox="1"/>
          <p:nvPr/>
        </p:nvSpPr>
        <p:spPr>
          <a:xfrm>
            <a:off x="1371600" y="1524000"/>
            <a:ext cx="69637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lang="en-US" sz="2400" b="1" i="0" dirty="0">
                <a:solidFill>
                  <a:schemeClr val="tx1"/>
                </a:solidFill>
                <a:effectLst/>
                <a:latin typeface="+mn-lt"/>
              </a:rPr>
              <a:t>Image data:</a:t>
            </a:r>
            <a:endParaRPr lang="en-US" sz="2400" b="1" dirty="0">
              <a:solidFill>
                <a:schemeClr val="tx1"/>
              </a:solidFill>
              <a:latin typeface="+mn-lt"/>
            </a:endParaRP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124,794 blue-channel fundus images</a:t>
            </a:r>
            <a:endParaRPr lang="en-US" sz="2400" dirty="0">
              <a:solidFill>
                <a:schemeClr val="tx1"/>
              </a:solidFill>
              <a:latin typeface="+mn-lt"/>
            </a:endParaRP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63,294 myopia images and 61,500 normal images.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n-lt"/>
              </a:rPr>
              <a:t>Training Images: 99836</a:t>
            </a:r>
          </a:p>
          <a:p>
            <a:pPr marL="342900" indent="-34290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chemeClr val="tx1"/>
                </a:solidFill>
                <a:effectLst/>
                <a:latin typeface="+mn-lt"/>
              </a:rPr>
              <a:t>Test Images: 24958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1149" r="1159"/>
          <a:stretch/>
        </p:blipFill>
        <p:spPr>
          <a:xfrm>
            <a:off x="1143000" y="1545482"/>
            <a:ext cx="12954000" cy="5998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485A-A113-773D-8CD0-302BFED39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23BDAC6-50C9-2AB2-54D0-75C2DBEB0E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77125"/>
            <a:ext cx="2266950" cy="628648"/>
          </a:xfrm>
          <a:prstGeom prst="rect">
            <a:avLst/>
          </a:prstGeom>
        </p:spPr>
      </p:pic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D65EC3DD-CF26-D8AA-6524-04FB77A6D9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0147" y="638174"/>
            <a:ext cx="563118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REQUIREMENTS</a:t>
            </a:r>
            <a:endParaRPr spc="-10" dirty="0">
              <a:solidFill>
                <a:srgbClr val="00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2B43331-057D-E220-6215-A9AA470681F0}"/>
              </a:ext>
            </a:extLst>
          </p:cNvPr>
          <p:cNvSpPr txBox="1"/>
          <p:nvPr/>
        </p:nvSpPr>
        <p:spPr>
          <a:xfrm>
            <a:off x="1245552" y="1647507"/>
            <a:ext cx="5993448" cy="525656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r>
              <a:rPr lang="en-IN" sz="2400" b="1" dirty="0">
                <a:latin typeface="+mn-lt"/>
              </a:rPr>
              <a:t>Hardware Requirements:</a:t>
            </a:r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For normal running/inference: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Dual-core CPU or better 8 GB RAM minimum, 16 GB recommended10 GB free storage minimum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Internet connection for login, API calls, and package install</a:t>
            </a:r>
          </a:p>
          <a:p>
            <a:endParaRPr lang="en-IN" sz="2400" dirty="0">
              <a:latin typeface="+mn-lt"/>
            </a:endParaRPr>
          </a:p>
          <a:p>
            <a:r>
              <a:rPr lang="en-IN" sz="2400" dirty="0">
                <a:latin typeface="+mn-lt"/>
              </a:rPr>
              <a:t>For model training: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Quad-core CPU or better 16 GB RAM recommended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Optional NVIDIA GPU for faster CNN training 20 GB+ free storage for datasets, checkpoints, and logs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FE4833-DF0F-3FD5-1760-EABE4A4EC9B1}"/>
              </a:ext>
            </a:extLst>
          </p:cNvPr>
          <p:cNvSpPr txBox="1"/>
          <p:nvPr/>
        </p:nvSpPr>
        <p:spPr>
          <a:xfrm>
            <a:off x="7620000" y="1752600"/>
            <a:ext cx="5993448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Software </a:t>
            </a:r>
            <a:r>
              <a:rPr lang="en-IN" sz="2400" b="1" dirty="0">
                <a:latin typeface="+mn-lt"/>
              </a:rPr>
              <a:t>Requirements: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Windows 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Python 3.11+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Node.js 18+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React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Git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latin typeface="+mn-lt"/>
            </a:endParaRPr>
          </a:p>
          <a:p>
            <a:r>
              <a:rPr lang="en-IN" sz="2400" b="1" dirty="0">
                <a:latin typeface="+mn-lt"/>
              </a:rPr>
              <a:t>Project Stack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Frontend: React 18, TypeScript, Vite, Tailwind CSS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Backend: Flask, Node </a:t>
            </a:r>
            <a:r>
              <a:rPr lang="en-IN" sz="2400" dirty="0" err="1">
                <a:latin typeface="+mn-lt"/>
              </a:rPr>
              <a:t>js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ML: scikit-learn, </a:t>
            </a:r>
            <a:r>
              <a:rPr lang="en-IN" sz="2400" dirty="0" err="1">
                <a:latin typeface="+mn-lt"/>
              </a:rPr>
              <a:t>XGBoost</a:t>
            </a:r>
            <a:r>
              <a:rPr lang="en-IN" sz="2400" dirty="0">
                <a:latin typeface="+mn-lt"/>
              </a:rPr>
              <a:t>, Image mode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Training: TensorFlow/</a:t>
            </a:r>
            <a:r>
              <a:rPr lang="en-IN" sz="2400" dirty="0" err="1">
                <a:latin typeface="+mn-lt"/>
              </a:rPr>
              <a:t>Keras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PDF generation: </a:t>
            </a:r>
            <a:r>
              <a:rPr lang="en-IN" sz="2400" dirty="0" err="1">
                <a:latin typeface="+mn-lt"/>
              </a:rPr>
              <a:t>jsPDF</a:t>
            </a:r>
            <a:endParaRPr lang="en-IN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13457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63450" y="7486650"/>
            <a:ext cx="2266950" cy="6286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40015" y="3733800"/>
            <a:ext cx="5204460" cy="22282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cleaning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preprocessing</a:t>
            </a:r>
            <a:endParaRPr sz="2400" dirty="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Feature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engineering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training</a:t>
            </a:r>
            <a:endParaRPr sz="2400" dirty="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20" dirty="0">
                <a:latin typeface="Calibri"/>
                <a:cs typeface="Calibri"/>
              </a:rPr>
              <a:t>Evaluation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metric</a:t>
            </a:r>
            <a:r>
              <a:rPr sz="2400" spc="-10" dirty="0">
                <a:latin typeface="Calibri"/>
                <a:cs typeface="Calibri"/>
              </a:rPr>
              <a:t> analysis</a:t>
            </a:r>
            <a:endParaRPr sz="2400" dirty="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Backend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prediction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pipeline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integration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7150099" y="3733800"/>
            <a:ext cx="5941059" cy="22282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pc="-10" dirty="0"/>
              <a:t>Frontend</a:t>
            </a:r>
            <a:r>
              <a:rPr spc="-60" dirty="0"/>
              <a:t> </a:t>
            </a:r>
            <a:r>
              <a:rPr spc="-10" dirty="0"/>
              <a:t>development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-10" dirty="0"/>
              <a:t>visualization</a:t>
            </a: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/>
              <a:t>API</a:t>
            </a:r>
            <a:r>
              <a:rPr spc="-55" dirty="0"/>
              <a:t> </a:t>
            </a:r>
            <a:r>
              <a:rPr spc="-10" dirty="0"/>
              <a:t>integration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testing</a:t>
            </a: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dirty="0"/>
              <a:t>Deployment</a:t>
            </a:r>
            <a:r>
              <a:rPr spc="-130" dirty="0"/>
              <a:t> </a:t>
            </a:r>
            <a:r>
              <a:rPr spc="-20" dirty="0"/>
              <a:t>setup</a:t>
            </a: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pc="-10" dirty="0"/>
              <a:t>Documentation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presentation</a:t>
            </a:r>
            <a:r>
              <a:rPr spc="-65" dirty="0"/>
              <a:t> </a:t>
            </a:r>
            <a:r>
              <a:rPr spc="-10" dirty="0"/>
              <a:t>preparation</a:t>
            </a: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81683" y="457200"/>
            <a:ext cx="9338945" cy="1223137"/>
          </a:xfrm>
          <a:prstGeom prst="rect">
            <a:avLst/>
          </a:prstGeom>
        </p:spPr>
        <p:txBody>
          <a:bodyPr vert="horz" wrap="square" lIns="0" tIns="478282" rIns="0" bIns="0" rtlCol="0">
            <a:spAutoFit/>
          </a:bodyPr>
          <a:lstStyle/>
          <a:p>
            <a:pPr marL="410845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Team</a:t>
            </a:r>
            <a:r>
              <a:rPr spc="-110" dirty="0"/>
              <a:t> </a:t>
            </a:r>
            <a:r>
              <a:rPr dirty="0"/>
              <a:t>Roles</a:t>
            </a:r>
            <a:r>
              <a:rPr spc="-120" dirty="0"/>
              <a:t> </a:t>
            </a:r>
            <a:r>
              <a:rPr dirty="0"/>
              <a:t>&amp;</a:t>
            </a:r>
            <a:r>
              <a:rPr spc="-125" dirty="0"/>
              <a:t> </a:t>
            </a:r>
            <a:r>
              <a:rPr spc="-10" dirty="0"/>
              <a:t>Responsibilities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2052"/>
          <a:stretch/>
        </p:blipFill>
        <p:spPr>
          <a:xfrm>
            <a:off x="781684" y="1836376"/>
            <a:ext cx="12553316" cy="5783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68200" y="7524750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678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>
                <a:solidFill>
                  <a:srgbClr val="000000"/>
                </a:solidFill>
              </a:rPr>
              <a:t>APPLICATIONS</a:t>
            </a:r>
            <a:r>
              <a:rPr spc="-10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AND</a:t>
            </a:r>
            <a:r>
              <a:rPr spc="-1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BENEFITS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4435" y="2468562"/>
            <a:ext cx="5382895" cy="3328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50" b="1" spc="-10" dirty="0">
                <a:latin typeface="Calibri"/>
                <a:cs typeface="Calibri"/>
              </a:rPr>
              <a:t>Applications:</a:t>
            </a:r>
            <a:endParaRPr sz="275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School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screening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Eye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clinics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triage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20" dirty="0">
                <a:latin typeface="Calibri"/>
                <a:cs typeface="Calibri"/>
              </a:rPr>
              <a:t>Preventive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pediatric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health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platforms</a:t>
            </a:r>
            <a:endParaRPr sz="2400">
              <a:latin typeface="Calibri"/>
              <a:cs typeface="Calibri"/>
            </a:endParaRPr>
          </a:p>
          <a:p>
            <a:pPr marL="296545" marR="5080" indent="-284480">
              <a:lnSpc>
                <a:spcPct val="151200"/>
              </a:lnSpc>
              <a:buFont typeface="Arial MT"/>
              <a:buChar char="•"/>
              <a:tabLst>
                <a:tab pos="298450" algn="l"/>
              </a:tabLst>
            </a:pPr>
            <a:r>
              <a:rPr sz="2400" spc="-10" dirty="0">
                <a:latin typeface="Calibri"/>
                <a:cs typeface="Calibri"/>
              </a:rPr>
              <a:t>Research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myopia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progression 	studies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06131" y="2420874"/>
            <a:ext cx="1335405" cy="449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50" b="1" spc="-10" dirty="0">
                <a:latin typeface="Calibri"/>
                <a:cs typeface="Calibri"/>
              </a:rPr>
              <a:t>Benefits: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06131" y="2968688"/>
            <a:ext cx="5978525" cy="2228215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5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Early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detection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cost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spc="-10" dirty="0">
                <a:latin typeface="Calibri"/>
                <a:cs typeface="Calibri"/>
              </a:rPr>
              <a:t>Non-invasive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screening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00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Fast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scalable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prediction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workflow</a:t>
            </a:r>
            <a:endParaRPr sz="2400">
              <a:latin typeface="Calibri"/>
              <a:cs typeface="Calibri"/>
            </a:endParaRPr>
          </a:p>
          <a:p>
            <a:pPr marL="297180" indent="-28448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297180" algn="l"/>
              </a:tabLst>
            </a:pPr>
            <a:r>
              <a:rPr sz="2400" dirty="0">
                <a:latin typeface="Calibri"/>
                <a:cs typeface="Calibri"/>
              </a:rPr>
              <a:t>Better</a:t>
            </a:r>
            <a:r>
              <a:rPr sz="2400" spc="-1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awareness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preventive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interventions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8110"/>
          <a:stretch/>
        </p:blipFill>
        <p:spPr>
          <a:xfrm>
            <a:off x="789029" y="1905000"/>
            <a:ext cx="13307971" cy="54424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87275" y="7572373"/>
            <a:ext cx="2085975" cy="5810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8427" y="457200"/>
            <a:ext cx="226441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5" dirty="0">
                <a:solidFill>
                  <a:srgbClr val="000000"/>
                </a:solidFill>
              </a:rPr>
              <a:t>RESULTS: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952817" y="1413573"/>
            <a:ext cx="5600383" cy="4898136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dirty="0"/>
              <a:t>Model </a:t>
            </a:r>
            <a:r>
              <a:rPr spc="-10" dirty="0"/>
              <a:t>Performance:</a:t>
            </a:r>
          </a:p>
          <a:p>
            <a:pPr marL="354965" indent="-342265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</a:t>
            </a:r>
            <a:r>
              <a:rPr b="0" spc="1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(Has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RE):</a:t>
            </a:r>
            <a:r>
              <a:rPr b="0" spc="-2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AUC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50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0.9451</a:t>
            </a:r>
          </a:p>
          <a:p>
            <a:pPr marL="354965" marR="549275" indent="-342900">
              <a:lnSpc>
                <a:spcPts val="285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2</a:t>
            </a:r>
            <a:r>
              <a:rPr b="0" spc="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(Risk</a:t>
            </a:r>
            <a:r>
              <a:rPr b="0" spc="-1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progression):</a:t>
            </a:r>
            <a:r>
              <a:rPr b="0" spc="-9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AUC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4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0.8941, Accuracy</a:t>
            </a:r>
            <a:r>
              <a:rPr b="0" spc="-7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55" dirty="0">
                <a:latin typeface="Calibri"/>
                <a:cs typeface="Calibri"/>
              </a:rPr>
              <a:t> </a:t>
            </a:r>
            <a:r>
              <a:rPr b="0" spc="-10" dirty="0">
                <a:latin typeface="Calibri"/>
                <a:cs typeface="Calibri"/>
              </a:rPr>
              <a:t>81.2%</a:t>
            </a: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b="0" dirty="0">
                <a:latin typeface="Calibri"/>
                <a:cs typeface="Calibri"/>
              </a:rPr>
              <a:t>Stage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3 </a:t>
            </a:r>
            <a:r>
              <a:rPr b="0" spc="-10" dirty="0">
                <a:latin typeface="Calibri"/>
                <a:cs typeface="Calibri"/>
              </a:rPr>
              <a:t>(Diopter</a:t>
            </a:r>
            <a:r>
              <a:rPr b="0" spc="-60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regression):</a:t>
            </a:r>
            <a:r>
              <a:rPr b="0" spc="-9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MAE</a:t>
            </a:r>
            <a:r>
              <a:rPr b="0" spc="-2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=</a:t>
            </a:r>
            <a:r>
              <a:rPr b="0" spc="-55" dirty="0">
                <a:latin typeface="Calibri"/>
                <a:cs typeface="Calibri"/>
              </a:rPr>
              <a:t> </a:t>
            </a:r>
            <a:r>
              <a:rPr b="0" dirty="0">
                <a:latin typeface="Calibri"/>
                <a:cs typeface="Calibri"/>
              </a:rPr>
              <a:t>1.71 </a:t>
            </a:r>
            <a:r>
              <a:rPr b="0" spc="-50" dirty="0">
                <a:latin typeface="Calibri"/>
                <a:cs typeface="Calibri"/>
              </a:rPr>
              <a:t>D</a:t>
            </a:r>
            <a:endParaRPr lang="en-US" b="0" spc="-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354965" algn="l"/>
              </a:tabLst>
            </a:pPr>
            <a:endParaRPr b="0" spc="-50" dirty="0">
              <a:latin typeface="Calibri"/>
              <a:cs typeface="Calibri"/>
            </a:endParaRPr>
          </a:p>
          <a:p>
            <a:r>
              <a:rPr lang="en-US" dirty="0"/>
              <a:t>Image Model Performance: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Accuracy:</a:t>
            </a:r>
            <a:r>
              <a:rPr lang="en-US" b="0" dirty="0"/>
              <a:t> 99.71%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AUC:</a:t>
            </a:r>
            <a:r>
              <a:rPr lang="en-US" b="0" dirty="0"/>
              <a:t> 0.9998 (Exceptional)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Loss:</a:t>
            </a:r>
            <a:r>
              <a:rPr lang="en-US" b="0" dirty="0"/>
              <a:t> 0.0081</a:t>
            </a:r>
          </a:p>
          <a:p>
            <a:pPr>
              <a:lnSpc>
                <a:spcPct val="100000"/>
              </a:lnSpc>
              <a:spcBef>
                <a:spcPts val="1395"/>
              </a:spcBef>
              <a:buClr>
                <a:srgbClr val="0D0D0D"/>
              </a:buClr>
            </a:pPr>
            <a:endParaRPr b="0" spc="-5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34200" y="1412003"/>
            <a:ext cx="7391399" cy="5670142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2400" b="1" dirty="0">
                <a:latin typeface="+mn-lt"/>
              </a:rPr>
              <a:t>Key</a:t>
            </a:r>
            <a:r>
              <a:rPr lang="en-US" sz="2400" b="1" spc="-100" dirty="0">
                <a:latin typeface="+mn-lt"/>
              </a:rPr>
              <a:t> </a:t>
            </a:r>
            <a:r>
              <a:rPr lang="en-US" sz="2400" b="1" spc="-10" dirty="0">
                <a:latin typeface="+mn-lt"/>
              </a:rPr>
              <a:t>Findings:</a:t>
            </a:r>
          </a:p>
          <a:p>
            <a:pPr marL="354965" marR="815340" indent="-342900">
              <a:lnSpc>
                <a:spcPts val="2850"/>
              </a:lnSpc>
              <a:spcBef>
                <a:spcPts val="167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Higher</a:t>
            </a:r>
            <a:r>
              <a:rPr lang="en-US" sz="2400" b="0" spc="-1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screen</a:t>
            </a:r>
            <a:r>
              <a:rPr lang="en-US" sz="2400" b="0" spc="-5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and</a:t>
            </a:r>
            <a:r>
              <a:rPr lang="en-US" sz="2400" b="0" spc="-5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near-</a:t>
            </a:r>
            <a:r>
              <a:rPr lang="en-US" sz="2400" b="0" dirty="0">
                <a:latin typeface="Calibri"/>
                <a:cs typeface="Calibri"/>
              </a:rPr>
              <a:t>work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exposure </a:t>
            </a:r>
            <a:r>
              <a:rPr lang="en-US" sz="2400" b="0" dirty="0">
                <a:latin typeface="Calibri"/>
                <a:cs typeface="Calibri"/>
              </a:rPr>
              <a:t>increase</a:t>
            </a:r>
            <a:r>
              <a:rPr lang="en-US" sz="2400" b="0" spc="-130" dirty="0">
                <a:latin typeface="Calibri"/>
                <a:cs typeface="Calibri"/>
              </a:rPr>
              <a:t> </a:t>
            </a:r>
            <a:r>
              <a:rPr lang="en-US" sz="2400" b="0" spc="-20" dirty="0">
                <a:latin typeface="Calibri"/>
                <a:cs typeface="Calibri"/>
              </a:rPr>
              <a:t>risk</a:t>
            </a: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Lower</a:t>
            </a:r>
            <a:r>
              <a:rPr lang="en-US" sz="2400" b="0" spc="-10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outdoor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activity</a:t>
            </a:r>
            <a:r>
              <a:rPr lang="en-US" sz="2400" b="0" spc="-70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strongly</a:t>
            </a:r>
            <a:r>
              <a:rPr lang="en-US" sz="2400" b="0" spc="-6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increases</a:t>
            </a:r>
            <a:r>
              <a:rPr lang="en-US" sz="2400" b="0" spc="-60" dirty="0">
                <a:latin typeface="Calibri"/>
                <a:cs typeface="Calibri"/>
              </a:rPr>
              <a:t> </a:t>
            </a:r>
            <a:r>
              <a:rPr lang="en-US" sz="2400" b="0" spc="-20" dirty="0">
                <a:latin typeface="Calibri"/>
                <a:cs typeface="Calibri"/>
              </a:rPr>
              <a:t>risk</a:t>
            </a:r>
          </a:p>
          <a:p>
            <a:pPr marL="354965" marR="5080" indent="-342900">
              <a:lnSpc>
                <a:spcPts val="285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US" sz="2400" b="0" dirty="0">
                <a:latin typeface="Calibri"/>
                <a:cs typeface="Calibri"/>
              </a:rPr>
              <a:t>Family</a:t>
            </a:r>
            <a:r>
              <a:rPr lang="en-US" sz="2400" b="0" spc="-6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history</a:t>
            </a:r>
            <a:r>
              <a:rPr lang="en-US" sz="2400" b="0" spc="-12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and</a:t>
            </a:r>
            <a:r>
              <a:rPr lang="en-US" sz="2400" b="0" spc="-70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parental</a:t>
            </a:r>
            <a:r>
              <a:rPr lang="en-US" sz="2400" b="0" spc="-105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myopia</a:t>
            </a:r>
            <a:r>
              <a:rPr lang="en-US" sz="2400" b="0" spc="-40" dirty="0">
                <a:latin typeface="Calibri"/>
                <a:cs typeface="Calibri"/>
              </a:rPr>
              <a:t> </a:t>
            </a:r>
            <a:r>
              <a:rPr lang="en-US" sz="2400" b="0" dirty="0">
                <a:latin typeface="Calibri"/>
                <a:cs typeface="Calibri"/>
              </a:rPr>
              <a:t>are</a:t>
            </a:r>
            <a:r>
              <a:rPr lang="en-US" sz="2400" b="0" spc="-75" dirty="0">
                <a:latin typeface="Calibri"/>
                <a:cs typeface="Calibri"/>
              </a:rPr>
              <a:t> </a:t>
            </a:r>
            <a:r>
              <a:rPr lang="en-US" sz="2400" b="0" spc="-10" dirty="0">
                <a:latin typeface="Calibri"/>
                <a:cs typeface="Calibri"/>
              </a:rPr>
              <a:t>major predictors</a:t>
            </a:r>
          </a:p>
          <a:p>
            <a:pPr marL="354965" marR="5080" indent="-342900">
              <a:lnSpc>
                <a:spcPts val="285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sz="2400" dirty="0">
                <a:latin typeface="+mn-lt"/>
              </a:rPr>
              <a:t>Fundus images provide strong diagnostic signal</a:t>
            </a:r>
            <a:endParaRPr lang="en-US" sz="2400" spc="-10" dirty="0">
              <a:solidFill>
                <a:srgbClr val="0D0D0D"/>
              </a:solidFill>
              <a:latin typeface="+mn-lt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400" b="1" spc="-10" dirty="0">
                <a:solidFill>
                  <a:srgbClr val="0D0D0D"/>
                </a:solidFill>
                <a:latin typeface="Calibri"/>
                <a:cs typeface="Calibri"/>
              </a:rPr>
              <a:t>System</a:t>
            </a:r>
            <a:r>
              <a:rPr sz="2400" b="1" spc="-1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D0D0D"/>
                </a:solidFill>
                <a:latin typeface="Calibri"/>
                <a:cs typeface="Calibri"/>
              </a:rPr>
              <a:t>Output</a:t>
            </a:r>
            <a:r>
              <a:rPr lang="en-US" sz="2400" b="1" spc="-10" dirty="0">
                <a:solidFill>
                  <a:srgbClr val="0D0D0D"/>
                </a:solidFill>
                <a:latin typeface="Calibri"/>
                <a:cs typeface="Calibri"/>
              </a:rPr>
              <a:t>: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4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Risk</a:t>
            </a:r>
            <a:r>
              <a:rPr sz="2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percentage</a:t>
            </a:r>
            <a:r>
              <a:rPr sz="24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risk</a:t>
            </a:r>
            <a:r>
              <a:rPr sz="2400" spc="-3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class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Refractive</a:t>
            </a:r>
            <a:r>
              <a:rPr sz="2400" spc="-9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error</a:t>
            </a:r>
            <a:r>
              <a:rPr sz="2400" spc="-10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probability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Estimated</a:t>
            </a:r>
            <a:r>
              <a:rPr sz="2400" spc="-4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severity</a:t>
            </a:r>
            <a:r>
              <a:rPr sz="2400" spc="-3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clinical</a:t>
            </a:r>
            <a:r>
              <a:rPr sz="2400" spc="-1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0D0D0D"/>
                </a:solidFill>
                <a:latin typeface="Calibri"/>
                <a:cs typeface="Calibri"/>
              </a:rPr>
              <a:t>follow-</a:t>
            </a:r>
            <a:r>
              <a:rPr sz="2400" dirty="0">
                <a:solidFill>
                  <a:srgbClr val="0D0D0D"/>
                </a:solidFill>
                <a:latin typeface="Calibri"/>
                <a:cs typeface="Calibri"/>
              </a:rPr>
              <a:t>up</a:t>
            </a:r>
            <a:r>
              <a:rPr sz="2400" spc="-50" dirty="0">
                <a:solidFill>
                  <a:srgbClr val="0D0D0D"/>
                </a:solidFill>
                <a:latin typeface="Calibri"/>
                <a:cs typeface="Calibri"/>
              </a:rPr>
              <a:t> </a:t>
            </a:r>
            <a:r>
              <a:rPr sz="2400" spc="-10" dirty="0" err="1">
                <a:solidFill>
                  <a:srgbClr val="0D0D0D"/>
                </a:solidFill>
                <a:latin typeface="Calibri"/>
                <a:cs typeface="Calibri"/>
              </a:rPr>
              <a:t>guidanc</a:t>
            </a:r>
            <a:r>
              <a:rPr lang="en-IN" sz="2400" spc="-10" dirty="0">
                <a:solidFill>
                  <a:srgbClr val="0D0D0D"/>
                </a:solidFill>
                <a:latin typeface="Calibri"/>
                <a:cs typeface="Calibri"/>
              </a:rPr>
              <a:t>e</a:t>
            </a:r>
            <a:endParaRPr lang="en-US" sz="2400" spc="-10" dirty="0">
              <a:solidFill>
                <a:srgbClr val="0D0D0D"/>
              </a:solidFill>
              <a:latin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Image classification confidence 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Multimodal prediction 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565"/>
          <a:stretch/>
        </p:blipFill>
        <p:spPr>
          <a:xfrm>
            <a:off x="762000" y="1384460"/>
            <a:ext cx="13639800" cy="6311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77725" y="7496175"/>
            <a:ext cx="2266950" cy="62864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4800" y="381000"/>
            <a:ext cx="8119745" cy="1129539"/>
          </a:xfrm>
          <a:prstGeom prst="rect">
            <a:avLst/>
          </a:prstGeom>
        </p:spPr>
        <p:txBody>
          <a:bodyPr vert="horz" wrap="square" lIns="0" tIns="387095" rIns="0" bIns="0" rtlCol="0">
            <a:spAutoFit/>
          </a:bodyPr>
          <a:lstStyle/>
          <a:p>
            <a:pPr marL="931544">
              <a:lnSpc>
                <a:spcPct val="100000"/>
              </a:lnSpc>
              <a:spcBef>
                <a:spcPts val="105"/>
              </a:spcBef>
            </a:pPr>
            <a:r>
              <a:rPr dirty="0"/>
              <a:t>FUTURE</a:t>
            </a:r>
            <a:r>
              <a:rPr spc="-4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9072" y="1634727"/>
            <a:ext cx="10842371" cy="2725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Expand to multi-center, multi-modal datasets (fundus + OCT) and run prospective clinical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Optimize and quantize models for on-device/edge inference with CI/CD, monitoring, and drift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Implement mobile-first guided image capture, </a:t>
            </a:r>
            <a:r>
              <a:rPr lang="en-US" sz="2400" dirty="0" err="1">
                <a:latin typeface="+mj-lt"/>
              </a:rPr>
              <a:t>explainability</a:t>
            </a:r>
            <a:r>
              <a:rPr lang="en-US" sz="2400" dirty="0">
                <a:latin typeface="+mj-lt"/>
              </a:rPr>
              <a:t> (saliency/calibration), and active-learning retraining.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+mn-lt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1295400" y="5283421"/>
            <a:ext cx="10789285" cy="27993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Implementation:</a:t>
            </a:r>
            <a:r>
              <a:rPr lang="en-US" sz="2400" dirty="0">
                <a:latin typeface="+mj-lt"/>
              </a:rPr>
              <a:t> Delivers a practical three-stage ML pipeline with web deployment for real-world school and clinic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Findings:</a:t>
            </a:r>
            <a:r>
              <a:rPr lang="en-US" sz="2400" dirty="0">
                <a:latin typeface="+mj-lt"/>
              </a:rPr>
              <a:t> Identifies key lifestyle and genetic contributors and produces clinically meaningful risk predictions.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+mj-lt"/>
              </a:rPr>
              <a:t>Impact:</a:t>
            </a:r>
            <a:r>
              <a:rPr lang="en-US" sz="2400" dirty="0">
                <a:latin typeface="+mj-lt"/>
              </a:rPr>
              <a:t> Shows AI can support preventive eye‑health in children and is ready for multi‑site validation and deployment.</a:t>
            </a:r>
          </a:p>
          <a:p>
            <a:pPr marL="297180" marR="292100" indent="-284480">
              <a:lnSpc>
                <a:spcPct val="151200"/>
              </a:lnSpc>
              <a:spcBef>
                <a:spcPts val="100"/>
              </a:spcBef>
              <a:buFont typeface="Arial MT"/>
              <a:buChar char="•"/>
              <a:tabLst>
                <a:tab pos="298450" algn="l"/>
              </a:tabLst>
            </a:pP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43000" y="4336411"/>
            <a:ext cx="352853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800" spc="-10" dirty="0">
                <a:latin typeface="+mj-lt"/>
              </a:rPr>
              <a:t>CONCLUSION</a:t>
            </a:r>
            <a:endParaRPr lang="en-IN" sz="4800" dirty="0">
              <a:latin typeface="+mj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6629400"/>
            <a:ext cx="3200400" cy="16001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45304" y="3290951"/>
            <a:ext cx="5927725" cy="1490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600" dirty="0">
                <a:solidFill>
                  <a:srgbClr val="000000"/>
                </a:solidFill>
              </a:rPr>
              <a:t>THANK</a:t>
            </a:r>
            <a:r>
              <a:rPr sz="9600" spc="-45" dirty="0">
                <a:solidFill>
                  <a:srgbClr val="000000"/>
                </a:solidFill>
              </a:rPr>
              <a:t> </a:t>
            </a:r>
            <a:r>
              <a:rPr sz="9600" spc="-75" dirty="0">
                <a:solidFill>
                  <a:srgbClr val="000000"/>
                </a:solidFill>
              </a:rPr>
              <a:t>YOU</a:t>
            </a:r>
            <a:endParaRPr sz="9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</TotalTime>
  <Words>718</Words>
  <Application>Microsoft Office PowerPoint</Application>
  <PresentationFormat>Custom</PresentationFormat>
  <Paragraphs>119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MT</vt:lpstr>
      <vt:lpstr>Calibri</vt:lpstr>
      <vt:lpstr>Office Theme</vt:lpstr>
      <vt:lpstr>AI-Based Multivariate Risk Prediction System for Early Detection of Myopia in School-Aged Children</vt:lpstr>
      <vt:lpstr>Myopia: A Growing Pediatric Health Crisis</vt:lpstr>
      <vt:lpstr>Project Objectives</vt:lpstr>
      <vt:lpstr>MODELS USED</vt:lpstr>
      <vt:lpstr>DATASET DESCRIPTION</vt:lpstr>
      <vt:lpstr>REQUIREMENTS</vt:lpstr>
      <vt:lpstr>Team Roles &amp; Responsibilities</vt:lpstr>
      <vt:lpstr>APPLICATIONS AND BENEFITS</vt:lpstr>
      <vt:lpstr>RESULTS:</vt:lpstr>
      <vt:lpstr>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Multivariate Risk Prediction System for Early Detection of Myopia in School-Aged Children</dc:title>
  <dc:creator>Unnati Tank</dc:creator>
  <cp:lastModifiedBy>Nency Pansuriya</cp:lastModifiedBy>
  <cp:revision>12</cp:revision>
  <dcterms:created xsi:type="dcterms:W3CDTF">2026-05-01T13:43:32Z</dcterms:created>
  <dcterms:modified xsi:type="dcterms:W3CDTF">2026-05-02T09:23:28Z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2026-05-01T00:00:00Z</vt:filetime>
  </property>
  <property fmtid="{D5CDD505-2E9C-101B-9397-08002B2CF9AE}" pid="4" name="LastSaved">
    <vt:filetime>2026-05-01T00:00:00Z</vt:filetime>
  </property>
</Properties>
</file>